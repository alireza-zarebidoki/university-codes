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embeddedFontLst>
    <p:embeddedFont>
      <p:font typeface="Vazirmatn"/>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Vazirmatn-regular.fntdata"/><Relationship Id="rId25" Type="http://schemas.openxmlformats.org/officeDocument/2006/relationships/slide" Target="slides/slide20.xml"/><Relationship Id="rId27" Type="http://schemas.openxmlformats.org/officeDocument/2006/relationships/font" Target="fonts/Vazirmatn-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1ae6909a9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1ae6909a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1ae6909a9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1ae6909a9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1ae6909a9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1ae6909a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1ae6909a9_1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1ae6909a9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a1ae6909a9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a1ae6909a9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1ae6909a9_1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1ae6909a9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1ae6909a9_1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1ae6909a9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2.jpg"/><Relationship Id="rId4" Type="http://schemas.openxmlformats.org/officeDocument/2006/relationships/hyperlink" Target="https://www.anneofgreengables.com/blog-posts/best-quotes-from-lucy-maud-montgomery"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27.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9.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33.png"/><Relationship Id="rId8"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31.png"/><Relationship Id="rId5" Type="http://schemas.openxmlformats.org/officeDocument/2006/relationships/image" Target="../media/image17.png"/><Relationship Id="rId6" Type="http://schemas.openxmlformats.org/officeDocument/2006/relationships/image" Target="../media/image25.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26.png"/><Relationship Id="rId7" Type="http://schemas.openxmlformats.org/officeDocument/2006/relationships/image" Target="../media/image23.png"/><Relationship Id="rId8"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520674" y="2322165"/>
            <a:ext cx="5150800" cy="876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850" u="none" cap="none" strike="noStrike">
                <a:solidFill>
                  <a:srgbClr val="0B3954"/>
                </a:solidFill>
                <a:latin typeface="Vazirmatn"/>
                <a:ea typeface="Vazirmatn"/>
                <a:cs typeface="Vazirmatn"/>
                <a:sym typeface="Vazirmatn"/>
              </a:rPr>
              <a:t>مهندسی پرامپت</a:t>
            </a:r>
            <a:endParaRPr/>
          </a:p>
        </p:txBody>
      </p:sp>
      <p:sp>
        <p:nvSpPr>
          <p:cNvPr id="86" name="Google Shape;86;p13"/>
          <p:cNvSpPr txBox="1"/>
          <p:nvPr/>
        </p:nvSpPr>
        <p:spPr>
          <a:xfrm>
            <a:off x="3643312" y="3388965"/>
            <a:ext cx="4905600" cy="920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2300" u="none" cap="none" strike="noStrike">
                <a:solidFill>
                  <a:srgbClr val="475569"/>
                </a:solidFill>
                <a:latin typeface="Vazirmatn"/>
                <a:ea typeface="Vazirmatn"/>
                <a:cs typeface="Vazirmatn"/>
                <a:sym typeface="Vazirmatn"/>
              </a:rPr>
              <a:t>کارگاهی برای دانشجویان علوم کامپیوتر: گفتگو با هوش مصنوعی</a:t>
            </a:r>
            <a:endParaRPr sz="1900"/>
          </a:p>
        </p:txBody>
      </p:sp>
      <p:sp>
        <p:nvSpPr>
          <p:cNvPr id="87" name="Google Shape;87;p13"/>
          <p:cNvSpPr txBox="1"/>
          <p:nvPr/>
        </p:nvSpPr>
        <p:spPr>
          <a:xfrm>
            <a:off x="3643300" y="4895691"/>
            <a:ext cx="49056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087E8B"/>
                </a:solidFill>
                <a:latin typeface="Vazirmatn"/>
                <a:ea typeface="Vazirmatn"/>
                <a:cs typeface="Vazirmatn"/>
                <a:sym typeface="Vazirmatn"/>
              </a:rPr>
              <a:t>دکتر محمود امین‌طوسی</a:t>
            </a:r>
            <a:endParaRPr/>
          </a:p>
        </p:txBody>
      </p:sp>
      <p:sp>
        <p:nvSpPr>
          <p:cNvPr id="88" name="Google Shape;88;p13"/>
          <p:cNvSpPr txBox="1"/>
          <p:nvPr/>
        </p:nvSpPr>
        <p:spPr>
          <a:xfrm>
            <a:off x="2820450" y="1087625"/>
            <a:ext cx="6551100" cy="677100"/>
          </a:xfrm>
          <a:prstGeom prst="rect">
            <a:avLst/>
          </a:prstGeom>
          <a:noFill/>
          <a:ln>
            <a:noFill/>
          </a:ln>
        </p:spPr>
        <p:txBody>
          <a:bodyPr anchorCtr="0" anchor="t" bIns="91425" lIns="91425" spcFirstLastPara="1" rIns="91425" wrap="square" tIns="91425">
            <a:spAutoFit/>
          </a:bodyPr>
          <a:lstStyle/>
          <a:p>
            <a:pPr indent="0" lvl="0" marL="0" rtl="1" algn="ctr">
              <a:spcBef>
                <a:spcPts val="0"/>
              </a:spcBef>
              <a:spcAft>
                <a:spcPts val="0"/>
              </a:spcAft>
              <a:buNone/>
            </a:pPr>
            <a:r>
              <a:rPr lang="en-US" sz="3200">
                <a:solidFill>
                  <a:schemeClr val="dk1"/>
                </a:solidFill>
                <a:latin typeface="Calibri"/>
                <a:ea typeface="Calibri"/>
                <a:cs typeface="Calibri"/>
                <a:sym typeface="Calibri"/>
              </a:rPr>
              <a:t>بسم الله الرحمان الرحیم</a:t>
            </a:r>
            <a:endParaRPr sz="3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txBox="1"/>
          <p:nvPr/>
        </p:nvSpPr>
        <p:spPr>
          <a:xfrm>
            <a:off x="1941275" y="843100"/>
            <a:ext cx="8568600" cy="769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000" u="none" cap="none" strike="noStrike">
                <a:solidFill>
                  <a:srgbClr val="0B3954"/>
                </a:solidFill>
                <a:latin typeface="Vazirmatn"/>
                <a:ea typeface="Vazirmatn"/>
                <a:cs typeface="Vazirmatn"/>
                <a:sym typeface="Vazirmatn"/>
              </a:rPr>
              <a:t>هوش مصنوعی مولد چیست؟</a:t>
            </a:r>
            <a:endParaRPr sz="1900"/>
          </a:p>
        </p:txBody>
      </p:sp>
      <p:sp>
        <p:nvSpPr>
          <p:cNvPr id="95" name="Google Shape;95;p14"/>
          <p:cNvSpPr/>
          <p:nvPr/>
        </p:nvSpPr>
        <p:spPr>
          <a:xfrm>
            <a:off x="5619750" y="3666232"/>
            <a:ext cx="952500" cy="47625"/>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3434060" y="2319473"/>
            <a:ext cx="5323800" cy="860400"/>
          </a:xfrm>
          <a:prstGeom prst="rect">
            <a:avLst/>
          </a:prstGeom>
          <a:noFill/>
          <a:ln>
            <a:noFill/>
          </a:ln>
        </p:spPr>
        <p:txBody>
          <a:bodyPr anchorCtr="0" anchor="t" bIns="0" lIns="0" spcFirstLastPara="1" rIns="0" wrap="square" tIns="0">
            <a:spAutoFit/>
          </a:bodyPr>
          <a:lstStyle/>
          <a:p>
            <a:pPr indent="0" lvl="0" marL="0" marR="0" rtl="1" algn="ctr">
              <a:lnSpc>
                <a:spcPct val="160000"/>
              </a:lnSpc>
              <a:spcBef>
                <a:spcPts val="0"/>
              </a:spcBef>
              <a:spcAft>
                <a:spcPts val="0"/>
              </a:spcAft>
              <a:buNone/>
            </a:pPr>
            <a:r>
              <a:rPr b="0" i="0" lang="en-US" sz="2150" u="none" cap="none" strike="noStrike">
                <a:solidFill>
                  <a:srgbClr val="475569"/>
                </a:solidFill>
                <a:latin typeface="Vazirmatn"/>
                <a:ea typeface="Vazirmatn"/>
                <a:cs typeface="Vazirmatn"/>
                <a:sym typeface="Vazirmatn"/>
              </a:rPr>
              <a:t>مدلی که یاد می‌گیرد «خلق» کند.</a:t>
            </a:r>
            <a:br>
              <a:rPr b="0" i="0" lang="en-US" sz="2150" u="none" cap="none" strike="noStrike">
                <a:solidFill>
                  <a:srgbClr val="475569"/>
                </a:solidFill>
                <a:latin typeface="Vazirmatn"/>
                <a:ea typeface="Vazirmatn"/>
                <a:cs typeface="Vazirmatn"/>
                <a:sym typeface="Vazirmatn"/>
              </a:rPr>
            </a:br>
            <a:r>
              <a:rPr b="0" i="0" lang="en-US" sz="2150" u="none" cap="none" strike="noStrike">
                <a:solidFill>
                  <a:srgbClr val="475569"/>
                </a:solidFill>
                <a:latin typeface="Vazirmatn"/>
                <a:ea typeface="Vazirmatn"/>
                <a:cs typeface="Vazirmatn"/>
                <a:sym typeface="Vazirmatn"/>
              </a:rPr>
              <a:t> مانند یک نویسنده، نقاش، یا برنامه‌نویس</a:t>
            </a:r>
            <a:endParaRPr sz="1900"/>
          </a:p>
        </p:txBody>
      </p:sp>
      <p:sp>
        <p:nvSpPr>
          <p:cNvPr id="97" name="Google Shape;97;p14"/>
          <p:cNvSpPr txBox="1"/>
          <p:nvPr/>
        </p:nvSpPr>
        <p:spPr>
          <a:xfrm>
            <a:off x="1742700" y="4078125"/>
            <a:ext cx="9225600" cy="2273400"/>
          </a:xfrm>
          <a:prstGeom prst="rect">
            <a:avLst/>
          </a:prstGeom>
          <a:noFill/>
          <a:ln>
            <a:noFill/>
          </a:ln>
        </p:spPr>
        <p:txBody>
          <a:bodyPr anchorCtr="0" anchor="t" bIns="91425" lIns="91425" spcFirstLastPara="1" rIns="91425" wrap="square" tIns="91425">
            <a:spAutoFit/>
          </a:bodyPr>
          <a:lstStyle/>
          <a:p>
            <a:pPr indent="0" lvl="0" marL="0" rtl="1" algn="ctr">
              <a:lnSpc>
                <a:spcPct val="115000"/>
              </a:lnSpc>
              <a:spcBef>
                <a:spcPts val="0"/>
              </a:spcBef>
              <a:spcAft>
                <a:spcPts val="0"/>
              </a:spcAft>
              <a:buNone/>
            </a:pPr>
            <a:r>
              <a:rPr b="1" lang="en-US" sz="2900">
                <a:solidFill>
                  <a:schemeClr val="dk1"/>
                </a:solidFill>
                <a:latin typeface="Vazirmatn"/>
                <a:ea typeface="Vazirmatn"/>
                <a:cs typeface="Vazirmatn"/>
                <a:sym typeface="Vazirmatn"/>
              </a:rPr>
              <a:t>مهندسی پرامپت چیست؟</a:t>
            </a:r>
            <a:endParaRPr b="1" sz="2900">
              <a:solidFill>
                <a:schemeClr val="dk1"/>
              </a:solidFill>
              <a:latin typeface="Vazirmatn"/>
              <a:ea typeface="Vazirmatn"/>
              <a:cs typeface="Vazirmatn"/>
              <a:sym typeface="Vazirmatn"/>
            </a:endParaRPr>
          </a:p>
          <a:p>
            <a:pPr indent="0" lvl="0" marL="0" rtl="1" algn="r">
              <a:lnSpc>
                <a:spcPct val="115000"/>
              </a:lnSpc>
              <a:spcBef>
                <a:spcPts val="0"/>
              </a:spcBef>
              <a:spcAft>
                <a:spcPts val="1800"/>
              </a:spcAft>
              <a:buNone/>
            </a:pPr>
            <a:r>
              <a:rPr lang="en-US" sz="2300">
                <a:solidFill>
                  <a:srgbClr val="374151"/>
                </a:solidFill>
                <a:latin typeface="Vazirmatn"/>
                <a:ea typeface="Vazirmatn"/>
                <a:cs typeface="Vazirmatn"/>
                <a:sym typeface="Vazirmatn"/>
              </a:rPr>
              <a:t>مهندسی پرامپت (Prompt Engineering) فرآیند طراحی و بهینه‌سازی دستورالعمل‌هایی (پرامپت‌هایی) است که به مدل‌های زبان بزرگ (LLMs) داده می‌شود تا خروجی دقیق‌تر، مرتبط‌تر و با کیفیت‌تری تولید کنند. این کارگاه به اصول و تاکتیک‌های موثر می‌پردازد.</a:t>
            </a:r>
            <a:endParaRPr sz="2300">
              <a:solidFill>
                <a:srgbClr val="374151"/>
              </a:solidFill>
              <a:latin typeface="Vazirmatn"/>
              <a:ea typeface="Vazirmatn"/>
              <a:cs typeface="Vazirmatn"/>
              <a:sym typeface="Vazirmat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pic>
        <p:nvPicPr>
          <p:cNvPr descr="image.png" id="102" name="Google Shape;102;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 name="Google Shape;103;p15"/>
          <p:cNvSpPr txBox="1"/>
          <p:nvPr/>
        </p:nvSpPr>
        <p:spPr>
          <a:xfrm>
            <a:off x="1809750" y="3095625"/>
            <a:ext cx="8191500" cy="307800"/>
          </a:xfrm>
          <a:prstGeom prst="rect">
            <a:avLst/>
          </a:prstGeom>
          <a:noFill/>
          <a:ln>
            <a:noFill/>
          </a:ln>
        </p:spPr>
        <p:txBody>
          <a:bodyPr anchorCtr="0" anchor="t" bIns="0" lIns="371475" spcFirstLastPara="1" rIns="0" wrap="square" tIns="0">
            <a:spAutoFit/>
          </a:bodyPr>
          <a:lstStyle/>
          <a:p>
            <a:pPr indent="0" lvl="0" marL="0" marR="0" rtl="0" algn="r">
              <a:lnSpc>
                <a:spcPct val="160000"/>
              </a:lnSpc>
              <a:spcBef>
                <a:spcPts val="0"/>
              </a:spcBef>
              <a:spcAft>
                <a:spcPts val="0"/>
              </a:spcAft>
              <a:buNone/>
            </a:pPr>
            <a:r>
              <a:rPr b="1" i="0" lang="en-US" sz="2000" u="none" cap="none" strike="noStrike">
                <a:solidFill>
                  <a:srgbClr val="0B3954"/>
                </a:solidFill>
                <a:latin typeface="Vazirmatn"/>
                <a:ea typeface="Vazirmatn"/>
                <a:cs typeface="Vazirmatn"/>
                <a:sym typeface="Vazirmatn"/>
              </a:rPr>
              <a:t>راهنمای شما:</a:t>
            </a:r>
            <a:r>
              <a:rPr b="0" i="0" lang="en-US" sz="2000" u="none" cap="none" strike="noStrike">
                <a:solidFill>
                  <a:srgbClr val="334155"/>
                </a:solidFill>
                <a:latin typeface="Vazirmatn"/>
                <a:ea typeface="Vazirmatn"/>
                <a:cs typeface="Vazirmatn"/>
                <a:sym typeface="Vazirmatn"/>
              </a:rPr>
              <a:t> پرامپت، دستورالعمل و نقشه راه شما برای هوش مصنوعی است.</a:t>
            </a:r>
            <a:endParaRPr sz="1900"/>
          </a:p>
        </p:txBody>
      </p:sp>
      <p:sp>
        <p:nvSpPr>
          <p:cNvPr id="104" name="Google Shape;104;p15"/>
          <p:cNvSpPr txBox="1"/>
          <p:nvPr/>
        </p:nvSpPr>
        <p:spPr>
          <a:xfrm>
            <a:off x="1809750" y="3590925"/>
            <a:ext cx="8191500" cy="292500"/>
          </a:xfrm>
          <a:prstGeom prst="rect">
            <a:avLst/>
          </a:prstGeom>
          <a:noFill/>
          <a:ln>
            <a:noFill/>
          </a:ln>
        </p:spPr>
        <p:txBody>
          <a:bodyPr anchorCtr="0" anchor="t" bIns="0" lIns="371475" spcFirstLastPara="1" rIns="0" wrap="square" tIns="0">
            <a:spAutoFit/>
          </a:bodyPr>
          <a:lstStyle/>
          <a:p>
            <a:pPr indent="0" lvl="0" marL="0" marR="0" rtl="0" algn="r">
              <a:lnSpc>
                <a:spcPct val="160000"/>
              </a:lnSpc>
              <a:spcBef>
                <a:spcPts val="0"/>
              </a:spcBef>
              <a:spcAft>
                <a:spcPts val="0"/>
              </a:spcAft>
              <a:buNone/>
            </a:pPr>
            <a:r>
              <a:rPr b="1" i="0" lang="en-US" sz="1900" u="none" cap="none" strike="noStrike">
                <a:solidFill>
                  <a:srgbClr val="0B3954"/>
                </a:solidFill>
                <a:latin typeface="Vazirmatn"/>
                <a:ea typeface="Vazirmatn"/>
                <a:cs typeface="Vazirmatn"/>
                <a:sym typeface="Vazirmatn"/>
              </a:rPr>
              <a:t>دقت خروجی:</a:t>
            </a:r>
            <a:r>
              <a:rPr b="0" i="0" lang="en-US" sz="1900" u="none" cap="none" strike="noStrike">
                <a:solidFill>
                  <a:srgbClr val="334155"/>
                </a:solidFill>
                <a:latin typeface="Vazirmatn"/>
                <a:ea typeface="Vazirmatn"/>
                <a:cs typeface="Vazirmatn"/>
                <a:sym typeface="Vazirmatn"/>
              </a:rPr>
              <a:t> پرامپت خوب = جواب دقیق و مفید. پرامپت ضعیف = جواب بی‌ربط.</a:t>
            </a:r>
            <a:endParaRPr sz="1800"/>
          </a:p>
        </p:txBody>
      </p:sp>
      <p:sp>
        <p:nvSpPr>
          <p:cNvPr id="105" name="Google Shape;105;p15"/>
          <p:cNvSpPr txBox="1"/>
          <p:nvPr/>
        </p:nvSpPr>
        <p:spPr>
          <a:xfrm>
            <a:off x="1809750" y="4086225"/>
            <a:ext cx="8191500" cy="292500"/>
          </a:xfrm>
          <a:prstGeom prst="rect">
            <a:avLst/>
          </a:prstGeom>
          <a:noFill/>
          <a:ln>
            <a:noFill/>
          </a:ln>
        </p:spPr>
        <p:txBody>
          <a:bodyPr anchorCtr="0" anchor="t" bIns="0" lIns="371475" spcFirstLastPara="1" rIns="0" wrap="square" tIns="0">
            <a:spAutoFit/>
          </a:bodyPr>
          <a:lstStyle/>
          <a:p>
            <a:pPr indent="0" lvl="0" marL="0" marR="0" rtl="0" algn="r">
              <a:lnSpc>
                <a:spcPct val="160000"/>
              </a:lnSpc>
              <a:spcBef>
                <a:spcPts val="0"/>
              </a:spcBef>
              <a:spcAft>
                <a:spcPts val="0"/>
              </a:spcAft>
              <a:buNone/>
            </a:pPr>
            <a:r>
              <a:rPr b="1" i="0" lang="en-US" sz="1900" u="none" cap="none" strike="noStrike">
                <a:solidFill>
                  <a:srgbClr val="0B3954"/>
                </a:solidFill>
                <a:latin typeface="Vazirmatn"/>
                <a:ea typeface="Vazirmatn"/>
                <a:cs typeface="Vazirmatn"/>
                <a:sym typeface="Vazirmatn"/>
              </a:rPr>
              <a:t>ابزار قدرتمند:</a:t>
            </a:r>
            <a:r>
              <a:rPr b="0" i="0" lang="en-US" sz="1900" u="none" cap="none" strike="noStrike">
                <a:solidFill>
                  <a:srgbClr val="334155"/>
                </a:solidFill>
                <a:latin typeface="Vazirmatn"/>
                <a:ea typeface="Vazirmatn"/>
                <a:cs typeface="Vazirmatn"/>
                <a:sym typeface="Vazirmatn"/>
              </a:rPr>
              <a:t> شما «مهندس» این گفتگو هستید و کیفیت خروجی را تعیین می‌کنید.</a:t>
            </a:r>
            <a:endParaRPr sz="1800"/>
          </a:p>
        </p:txBody>
      </p:sp>
      <p:pic>
        <p:nvPicPr>
          <p:cNvPr descr="image.png" id="106" name="Google Shape;106;p15"/>
          <p:cNvPicPr preferRelativeResize="0"/>
          <p:nvPr/>
        </p:nvPicPr>
        <p:blipFill rotWithShape="1">
          <a:blip r:embed="rId4">
            <a:alphaModFix/>
          </a:blip>
          <a:srcRect b="0" l="0" r="0" t="0"/>
          <a:stretch/>
        </p:blipFill>
        <p:spPr>
          <a:xfrm>
            <a:off x="10153650" y="3143250"/>
            <a:ext cx="228600" cy="228600"/>
          </a:xfrm>
          <a:prstGeom prst="rect">
            <a:avLst/>
          </a:prstGeom>
          <a:noFill/>
          <a:ln>
            <a:noFill/>
          </a:ln>
        </p:spPr>
      </p:pic>
      <p:pic>
        <p:nvPicPr>
          <p:cNvPr descr="image.png" id="107" name="Google Shape;107;p15"/>
          <p:cNvPicPr preferRelativeResize="0"/>
          <p:nvPr/>
        </p:nvPicPr>
        <p:blipFill rotWithShape="1">
          <a:blip r:embed="rId5">
            <a:alphaModFix/>
          </a:blip>
          <a:srcRect b="0" l="0" r="0" t="0"/>
          <a:stretch/>
        </p:blipFill>
        <p:spPr>
          <a:xfrm>
            <a:off x="10153650" y="3638550"/>
            <a:ext cx="228600" cy="228600"/>
          </a:xfrm>
          <a:prstGeom prst="rect">
            <a:avLst/>
          </a:prstGeom>
          <a:noFill/>
          <a:ln>
            <a:noFill/>
          </a:ln>
        </p:spPr>
      </p:pic>
      <p:pic>
        <p:nvPicPr>
          <p:cNvPr descr="image.png" id="108" name="Google Shape;108;p15"/>
          <p:cNvPicPr preferRelativeResize="0"/>
          <p:nvPr/>
        </p:nvPicPr>
        <p:blipFill rotWithShape="1">
          <a:blip r:embed="rId6">
            <a:alphaModFix/>
          </a:blip>
          <a:srcRect b="0" l="0" r="0" t="0"/>
          <a:stretch/>
        </p:blipFill>
        <p:spPr>
          <a:xfrm>
            <a:off x="10153650" y="4133850"/>
            <a:ext cx="228600" cy="228600"/>
          </a:xfrm>
          <a:prstGeom prst="rect">
            <a:avLst/>
          </a:prstGeom>
          <a:noFill/>
          <a:ln>
            <a:noFill/>
          </a:ln>
        </p:spPr>
      </p:pic>
      <p:sp>
        <p:nvSpPr>
          <p:cNvPr id="109" name="Google Shape;109;p15"/>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چرا «پرامپت» اهمیت دارد؟</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pic>
        <p:nvPicPr>
          <p:cNvPr descr="image.png" id="114" name="Google Shape;11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5" name="Google Shape;115;p16"/>
          <p:cNvPicPr preferRelativeResize="0"/>
          <p:nvPr/>
        </p:nvPicPr>
        <p:blipFill rotWithShape="1">
          <a:blip r:embed="rId4">
            <a:alphaModFix/>
          </a:blip>
          <a:srcRect b="0" l="0" r="0" t="0"/>
          <a:stretch/>
        </p:blipFill>
        <p:spPr>
          <a:xfrm>
            <a:off x="6334125" y="1857375"/>
            <a:ext cx="5286375" cy="3962400"/>
          </a:xfrm>
          <a:prstGeom prst="rect">
            <a:avLst/>
          </a:prstGeom>
          <a:noFill/>
          <a:ln>
            <a:noFill/>
          </a:ln>
        </p:spPr>
      </p:pic>
      <p:pic>
        <p:nvPicPr>
          <p:cNvPr descr="image.png" id="116" name="Google Shape;116;p16"/>
          <p:cNvPicPr preferRelativeResize="0"/>
          <p:nvPr/>
        </p:nvPicPr>
        <p:blipFill rotWithShape="1">
          <a:blip r:embed="rId5">
            <a:alphaModFix/>
          </a:blip>
          <a:srcRect b="0" l="0" r="0" t="0"/>
          <a:stretch/>
        </p:blipFill>
        <p:spPr>
          <a:xfrm>
            <a:off x="571500" y="1857375"/>
            <a:ext cx="5286375" cy="3962400"/>
          </a:xfrm>
          <a:prstGeom prst="rect">
            <a:avLst/>
          </a:prstGeom>
          <a:noFill/>
          <a:ln>
            <a:noFill/>
          </a:ln>
        </p:spPr>
      </p:pic>
      <p:pic>
        <p:nvPicPr>
          <p:cNvPr descr="image.png" id="117" name="Google Shape;117;p16"/>
          <p:cNvPicPr preferRelativeResize="0"/>
          <p:nvPr/>
        </p:nvPicPr>
        <p:blipFill rotWithShape="1">
          <a:blip r:embed="rId6">
            <a:alphaModFix/>
          </a:blip>
          <a:srcRect b="0" l="0" r="0" t="0"/>
          <a:stretch/>
        </p:blipFill>
        <p:spPr>
          <a:xfrm>
            <a:off x="6433352" y="3686175"/>
            <a:ext cx="5087910" cy="1247775"/>
          </a:xfrm>
          <a:prstGeom prst="rect">
            <a:avLst/>
          </a:prstGeom>
          <a:noFill/>
          <a:ln>
            <a:noFill/>
          </a:ln>
        </p:spPr>
      </p:pic>
      <p:pic>
        <p:nvPicPr>
          <p:cNvPr descr="image.png" id="118" name="Google Shape;118;p16"/>
          <p:cNvPicPr preferRelativeResize="0"/>
          <p:nvPr/>
        </p:nvPicPr>
        <p:blipFill rotWithShape="1">
          <a:blip r:embed="rId7">
            <a:alphaModFix/>
          </a:blip>
          <a:srcRect b="0" l="0" r="0" t="0"/>
          <a:stretch/>
        </p:blipFill>
        <p:spPr>
          <a:xfrm>
            <a:off x="670727" y="3686175"/>
            <a:ext cx="5087910" cy="1247775"/>
          </a:xfrm>
          <a:prstGeom prst="rect">
            <a:avLst/>
          </a:prstGeom>
          <a:noFill/>
          <a:ln>
            <a:noFill/>
          </a:ln>
        </p:spPr>
      </p:pic>
      <p:sp>
        <p:nvSpPr>
          <p:cNvPr id="119" name="Google Shape;119;p16"/>
          <p:cNvSpPr txBox="1"/>
          <p:nvPr/>
        </p:nvSpPr>
        <p:spPr>
          <a:xfrm>
            <a:off x="6499383" y="2247900"/>
            <a:ext cx="4730591" cy="3714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400" u="none" cap="none" strike="noStrike">
                <a:solidFill>
                  <a:srgbClr val="0B3954"/>
                </a:solidFill>
                <a:latin typeface="Vazirmatn"/>
                <a:ea typeface="Vazirmatn"/>
                <a:cs typeface="Vazirmatn"/>
                <a:sym typeface="Vazirmatn"/>
              </a:rPr>
              <a:t>پرامپت ضعیف</a:t>
            </a:r>
            <a:endParaRPr/>
          </a:p>
        </p:txBody>
      </p:sp>
      <p:sp>
        <p:nvSpPr>
          <p:cNvPr id="120" name="Google Shape;120;p16"/>
          <p:cNvSpPr/>
          <p:nvPr/>
        </p:nvSpPr>
        <p:spPr>
          <a:xfrm>
            <a:off x="6724650" y="2695575"/>
            <a:ext cx="4505325" cy="19050"/>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6"/>
          <p:cNvSpPr txBox="1"/>
          <p:nvPr/>
        </p:nvSpPr>
        <p:spPr>
          <a:xfrm>
            <a:off x="6724650" y="3048000"/>
            <a:ext cx="4505400" cy="2772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1800" u="none" cap="none" strike="noStrike">
                <a:solidFill>
                  <a:srgbClr val="334155"/>
                </a:solidFill>
                <a:latin typeface="Vazirmatn"/>
                <a:ea typeface="Vazirmatn"/>
                <a:cs typeface="Vazirmatn"/>
                <a:sym typeface="Vazirmatn"/>
              </a:rPr>
              <a:t>درخواستی کلی و بدون جزئیات.</a:t>
            </a:r>
            <a:endParaRPr sz="1700"/>
          </a:p>
        </p:txBody>
      </p:sp>
      <p:sp>
        <p:nvSpPr>
          <p:cNvPr id="122" name="Google Shape;122;p16"/>
          <p:cNvSpPr txBox="1"/>
          <p:nvPr/>
        </p:nvSpPr>
        <p:spPr>
          <a:xfrm>
            <a:off x="6724650" y="4933950"/>
            <a:ext cx="4505325" cy="3048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1" i="0" lang="en-US" sz="1500" u="none" cap="none" strike="noStrike">
                <a:solidFill>
                  <a:srgbClr val="334155"/>
                </a:solidFill>
                <a:latin typeface="Vazirmatn"/>
                <a:ea typeface="Vazirmatn"/>
                <a:cs typeface="Vazirmatn"/>
                <a:sym typeface="Vazirmatn"/>
              </a:rPr>
              <a:t>نتیجه:</a:t>
            </a:r>
            <a:r>
              <a:rPr b="0" i="0" lang="en-US" sz="1500" u="none" cap="none" strike="noStrike">
                <a:solidFill>
                  <a:srgbClr val="334155"/>
                </a:solidFill>
                <a:latin typeface="Vazirmatn"/>
                <a:ea typeface="Vazirmatn"/>
                <a:cs typeface="Vazirmatn"/>
                <a:sym typeface="Vazirmatn"/>
              </a:rPr>
              <a:t> یک شعر تصادفی و ساده.</a:t>
            </a:r>
            <a:endParaRPr/>
          </a:p>
        </p:txBody>
      </p:sp>
      <p:sp>
        <p:nvSpPr>
          <p:cNvPr id="123" name="Google Shape;123;p16"/>
          <p:cNvSpPr txBox="1"/>
          <p:nvPr/>
        </p:nvSpPr>
        <p:spPr>
          <a:xfrm>
            <a:off x="736758" y="2247900"/>
            <a:ext cx="4730591" cy="37147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400" u="none" cap="none" strike="noStrike">
                <a:solidFill>
                  <a:srgbClr val="0B3954"/>
                </a:solidFill>
                <a:latin typeface="Vazirmatn"/>
                <a:ea typeface="Vazirmatn"/>
                <a:cs typeface="Vazirmatn"/>
                <a:sym typeface="Vazirmatn"/>
              </a:rPr>
              <a:t>پرامپت قوی</a:t>
            </a:r>
            <a:endParaRPr/>
          </a:p>
        </p:txBody>
      </p:sp>
      <p:sp>
        <p:nvSpPr>
          <p:cNvPr id="124" name="Google Shape;124;p16"/>
          <p:cNvSpPr/>
          <p:nvPr/>
        </p:nvSpPr>
        <p:spPr>
          <a:xfrm>
            <a:off x="962025" y="2695575"/>
            <a:ext cx="4505325" cy="19050"/>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6"/>
          <p:cNvSpPr txBox="1"/>
          <p:nvPr/>
        </p:nvSpPr>
        <p:spPr>
          <a:xfrm>
            <a:off x="962025" y="3048000"/>
            <a:ext cx="4505400" cy="2772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1800" u="none" cap="none" strike="noStrike">
                <a:solidFill>
                  <a:srgbClr val="334155"/>
                </a:solidFill>
                <a:latin typeface="Vazirmatn"/>
                <a:ea typeface="Vazirmatn"/>
                <a:cs typeface="Vazirmatn"/>
                <a:sym typeface="Vazirmatn"/>
              </a:rPr>
              <a:t>ارائه جزئیات دقیق، سبک و قالب.</a:t>
            </a:r>
            <a:endParaRPr sz="1700"/>
          </a:p>
        </p:txBody>
      </p:sp>
      <p:sp>
        <p:nvSpPr>
          <p:cNvPr id="126" name="Google Shape;126;p16"/>
          <p:cNvSpPr txBox="1"/>
          <p:nvPr/>
        </p:nvSpPr>
        <p:spPr>
          <a:xfrm>
            <a:off x="962025" y="4933950"/>
            <a:ext cx="4505325" cy="3048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1" i="0" lang="en-US" sz="1500" u="none" cap="none" strike="noStrike">
                <a:solidFill>
                  <a:srgbClr val="334155"/>
                </a:solidFill>
                <a:latin typeface="Vazirmatn"/>
                <a:ea typeface="Vazirmatn"/>
                <a:cs typeface="Vazirmatn"/>
                <a:sym typeface="Vazirmatn"/>
              </a:rPr>
              <a:t>نتیجه:</a:t>
            </a:r>
            <a:r>
              <a:rPr b="0" i="0" lang="en-US" sz="1500" u="none" cap="none" strike="noStrike">
                <a:solidFill>
                  <a:srgbClr val="334155"/>
                </a:solidFill>
                <a:latin typeface="Vazirmatn"/>
                <a:ea typeface="Vazirmatn"/>
                <a:cs typeface="Vazirmatn"/>
                <a:sym typeface="Vazirmatn"/>
              </a:rPr>
              <a:t> خروجی بسیار دقیق‌تر و باکیفیت‌تر.</a:t>
            </a:r>
            <a:endParaRPr/>
          </a:p>
        </p:txBody>
      </p:sp>
      <p:sp>
        <p:nvSpPr>
          <p:cNvPr id="127" name="Google Shape;127;p16"/>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مثال اول: درخواست‌های عمومی</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17"/>
          <p:cNvSpPr txBox="1"/>
          <p:nvPr/>
        </p:nvSpPr>
        <p:spPr>
          <a:xfrm>
            <a:off x="5503325" y="2854825"/>
            <a:ext cx="6117300" cy="2499600"/>
          </a:xfrm>
          <a:prstGeom prst="rect">
            <a:avLst/>
          </a:prstGeom>
          <a:noFill/>
          <a:ln>
            <a:noFill/>
          </a:ln>
        </p:spPr>
        <p:txBody>
          <a:bodyPr anchorCtr="0" anchor="t" bIns="0" lIns="0" spcFirstLastPara="1" rIns="0" wrap="square" tIns="0">
            <a:spAutoFit/>
          </a:bodyPr>
          <a:lstStyle/>
          <a:p>
            <a:pPr indent="0" lvl="0" marL="0" marR="0" rtl="1" algn="ctr">
              <a:lnSpc>
                <a:spcPct val="160000"/>
              </a:lnSpc>
              <a:spcBef>
                <a:spcPts val="0"/>
              </a:spcBef>
              <a:spcAft>
                <a:spcPts val="0"/>
              </a:spcAft>
              <a:buNone/>
            </a:pPr>
            <a:r>
              <a:rPr b="0" i="0" lang="en-US" sz="2800" u="none" cap="none" strike="noStrike">
                <a:solidFill>
                  <a:srgbClr val="0B3954"/>
                </a:solidFill>
                <a:latin typeface="Vazirmatn"/>
                <a:ea typeface="Vazirmatn"/>
                <a:cs typeface="Vazirmatn"/>
                <a:sym typeface="Vazirmatn"/>
              </a:rPr>
              <a:t>"یک پاراگراف کوتاه در مورد اولین روز دانشگاه بنویس. سبک نوشتاری آن باید شاد، پر از توصیفات طبیعت و خیال‌پردازانه باشد، دقیقا مانند کتاب «آن‌شرلی در گرین گیبلز»."</a:t>
            </a:r>
            <a:endParaRPr sz="1800"/>
          </a:p>
        </p:txBody>
      </p:sp>
      <p:sp>
        <p:nvSpPr>
          <p:cNvPr id="133" name="Google Shape;133;p17"/>
          <p:cNvSpPr txBox="1"/>
          <p:nvPr/>
        </p:nvSpPr>
        <p:spPr>
          <a:xfrm>
            <a:off x="3069475" y="5914100"/>
            <a:ext cx="5393700" cy="338700"/>
          </a:xfrm>
          <a:prstGeom prst="rect">
            <a:avLst/>
          </a:prstGeom>
          <a:noFill/>
          <a:ln>
            <a:noFill/>
          </a:ln>
        </p:spPr>
        <p:txBody>
          <a:bodyPr anchorCtr="0" anchor="t" bIns="0" lIns="0" spcFirstLastPara="1" rIns="0" wrap="square" tIns="0">
            <a:spAutoFit/>
          </a:bodyPr>
          <a:lstStyle/>
          <a:p>
            <a:pPr indent="0" lvl="0" marL="0" marR="0" rtl="1" algn="ctr">
              <a:spcBef>
                <a:spcPts val="0"/>
              </a:spcBef>
              <a:spcAft>
                <a:spcPts val="0"/>
              </a:spcAft>
              <a:buNone/>
            </a:pPr>
            <a:r>
              <a:rPr b="0" i="0" lang="en-US" sz="2200" u="none" cap="none" strike="noStrike">
                <a:solidFill>
                  <a:srgbClr val="475569"/>
                </a:solidFill>
                <a:latin typeface="Vazirmatn"/>
                <a:ea typeface="Vazirmatn"/>
                <a:cs typeface="Vazirmatn"/>
                <a:sym typeface="Vazirmatn"/>
              </a:rPr>
              <a:t>این پرامپت به AI «شخصیت» و «سبک» می‌دهد.</a:t>
            </a:r>
            <a:endParaRPr sz="2100"/>
          </a:p>
        </p:txBody>
      </p:sp>
      <p:sp>
        <p:nvSpPr>
          <p:cNvPr id="134" name="Google Shape;134;p17"/>
          <p:cNvSpPr txBox="1"/>
          <p:nvPr/>
        </p:nvSpPr>
        <p:spPr>
          <a:xfrm>
            <a:off x="10272712" y="3140571"/>
            <a:ext cx="338137" cy="1095375"/>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7500" u="none" cap="none" strike="noStrike">
                <a:solidFill>
                  <a:srgbClr val="CBE7E9"/>
                </a:solidFill>
                <a:latin typeface="Vazirmatn"/>
                <a:ea typeface="Vazirmatn"/>
                <a:cs typeface="Vazirmatn"/>
                <a:sym typeface="Vazirmatn"/>
              </a:rPr>
              <a:t>"</a:t>
            </a:r>
            <a:endParaRPr/>
          </a:p>
        </p:txBody>
      </p:sp>
      <p:sp>
        <p:nvSpPr>
          <p:cNvPr id="135" name="Google Shape;135;p17"/>
          <p:cNvSpPr txBox="1"/>
          <p:nvPr/>
        </p:nvSpPr>
        <p:spPr>
          <a:xfrm>
            <a:off x="1581150" y="4222249"/>
            <a:ext cx="338137" cy="1095375"/>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7500" u="none" cap="none" strike="noStrike">
                <a:solidFill>
                  <a:srgbClr val="CBE7E9"/>
                </a:solidFill>
                <a:latin typeface="Vazirmatn"/>
                <a:ea typeface="Vazirmatn"/>
                <a:cs typeface="Vazirmatn"/>
                <a:sym typeface="Vazirmatn"/>
              </a:rPr>
              <a:t>"</a:t>
            </a:r>
            <a:endParaRPr/>
          </a:p>
        </p:txBody>
      </p:sp>
      <p:sp>
        <p:nvSpPr>
          <p:cNvPr id="136" name="Google Shape;136;p17"/>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مثال دوم: تقلید سبک</a:t>
            </a:r>
            <a:endParaRPr/>
          </a:p>
        </p:txBody>
      </p:sp>
      <p:pic>
        <p:nvPicPr>
          <p:cNvPr id="137" name="Google Shape;137;p17"/>
          <p:cNvPicPr preferRelativeResize="0"/>
          <p:nvPr/>
        </p:nvPicPr>
        <p:blipFill>
          <a:blip r:embed="rId3">
            <a:alphaModFix/>
          </a:blip>
          <a:stretch>
            <a:fillRect/>
          </a:stretch>
        </p:blipFill>
        <p:spPr>
          <a:xfrm>
            <a:off x="263600" y="309930"/>
            <a:ext cx="5137350" cy="4409551"/>
          </a:xfrm>
          <a:prstGeom prst="rect">
            <a:avLst/>
          </a:prstGeom>
          <a:noFill/>
          <a:ln>
            <a:noFill/>
          </a:ln>
        </p:spPr>
      </p:pic>
      <p:sp>
        <p:nvSpPr>
          <p:cNvPr id="138" name="Google Shape;138;p17"/>
          <p:cNvSpPr txBox="1"/>
          <p:nvPr/>
        </p:nvSpPr>
        <p:spPr>
          <a:xfrm>
            <a:off x="339950" y="4719475"/>
            <a:ext cx="506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latin typeface="Calibri"/>
                <a:ea typeface="Calibri"/>
                <a:cs typeface="Calibri"/>
                <a:sym typeface="Calibri"/>
                <a:hlinkClick r:id="rId4"/>
              </a:rPr>
              <a:t>https://www.anneofgreengables.com/blog-posts/best-quotes-from-lucy-maud-montgomery</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pic>
        <p:nvPicPr>
          <p:cNvPr descr="image.png" id="143" name="Google Shape;143;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4" name="Google Shape;144;p18"/>
          <p:cNvPicPr preferRelativeResize="0"/>
          <p:nvPr/>
        </p:nvPicPr>
        <p:blipFill rotWithShape="1">
          <a:blip r:embed="rId4">
            <a:alphaModFix/>
          </a:blip>
          <a:srcRect b="0" l="0" r="0" t="0"/>
          <a:stretch/>
        </p:blipFill>
        <p:spPr>
          <a:xfrm>
            <a:off x="8191500" y="2469802"/>
            <a:ext cx="3429000" cy="2737395"/>
          </a:xfrm>
          <a:prstGeom prst="rect">
            <a:avLst/>
          </a:prstGeom>
          <a:noFill/>
          <a:ln>
            <a:noFill/>
          </a:ln>
        </p:spPr>
      </p:pic>
      <p:pic>
        <p:nvPicPr>
          <p:cNvPr descr="image.png" id="145" name="Google Shape;145;p18"/>
          <p:cNvPicPr preferRelativeResize="0"/>
          <p:nvPr/>
        </p:nvPicPr>
        <p:blipFill rotWithShape="1">
          <a:blip r:embed="rId5">
            <a:alphaModFix/>
          </a:blip>
          <a:srcRect b="0" l="0" r="0" t="0"/>
          <a:stretch/>
        </p:blipFill>
        <p:spPr>
          <a:xfrm>
            <a:off x="4381500" y="2469802"/>
            <a:ext cx="3429000" cy="2737395"/>
          </a:xfrm>
          <a:prstGeom prst="rect">
            <a:avLst/>
          </a:prstGeom>
          <a:noFill/>
          <a:ln>
            <a:noFill/>
          </a:ln>
        </p:spPr>
      </p:pic>
      <p:pic>
        <p:nvPicPr>
          <p:cNvPr descr="image.png" id="146" name="Google Shape;146;p18"/>
          <p:cNvPicPr preferRelativeResize="0"/>
          <p:nvPr/>
        </p:nvPicPr>
        <p:blipFill rotWithShape="1">
          <a:blip r:embed="rId6">
            <a:alphaModFix/>
          </a:blip>
          <a:srcRect b="0" l="0" r="0" t="0"/>
          <a:stretch/>
        </p:blipFill>
        <p:spPr>
          <a:xfrm>
            <a:off x="571500" y="2469802"/>
            <a:ext cx="3429000" cy="2737395"/>
          </a:xfrm>
          <a:prstGeom prst="rect">
            <a:avLst/>
          </a:prstGeom>
          <a:noFill/>
          <a:ln>
            <a:noFill/>
          </a:ln>
        </p:spPr>
      </p:pic>
      <p:sp>
        <p:nvSpPr>
          <p:cNvPr id="147" name="Google Shape;147;p18"/>
          <p:cNvSpPr txBox="1"/>
          <p:nvPr/>
        </p:nvSpPr>
        <p:spPr>
          <a:xfrm>
            <a:off x="834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[Persona] (شخصیت)</a:t>
            </a:r>
            <a:endParaRPr sz="1700"/>
          </a:p>
        </p:txBody>
      </p:sp>
      <p:sp>
        <p:nvSpPr>
          <p:cNvPr id="148" name="Google Shape;148;p18"/>
          <p:cNvSpPr txBox="1"/>
          <p:nvPr/>
        </p:nvSpPr>
        <p:spPr>
          <a:xfrm>
            <a:off x="8486775" y="3917602"/>
            <a:ext cx="2838600" cy="9159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750" u="none" cap="none" strike="noStrike">
                <a:solidFill>
                  <a:srgbClr val="334155"/>
                </a:solidFill>
                <a:latin typeface="Vazirmatn"/>
                <a:ea typeface="Vazirmatn"/>
                <a:cs typeface="Vazirmatn"/>
                <a:sym typeface="Vazirmatn"/>
              </a:rPr>
              <a:t>هوش مصنوعی چه نقشی دارد؟</a:t>
            </a:r>
            <a:br>
              <a:rPr b="0" i="0" lang="en-US" sz="2200" u="none" cap="none" strike="noStrike">
                <a:solidFill>
                  <a:schemeClr val="dk1"/>
                </a:solidFill>
                <a:latin typeface="Calibri"/>
                <a:ea typeface="Calibri"/>
                <a:cs typeface="Calibri"/>
                <a:sym typeface="Calibri"/>
              </a:rPr>
            </a:br>
            <a:r>
              <a:rPr b="1" i="0" lang="en-US" sz="1750" u="none" cap="none" strike="noStrike">
                <a:solidFill>
                  <a:srgbClr val="334155"/>
                </a:solidFill>
                <a:latin typeface="Vazirmatn"/>
                <a:ea typeface="Vazirmatn"/>
                <a:cs typeface="Vazirmatn"/>
                <a:sym typeface="Vazirmatn"/>
              </a:rPr>
              <a:t>مثال:</a:t>
            </a:r>
            <a:r>
              <a:rPr b="0" i="0" lang="en-US" sz="1750" u="none" cap="none" strike="noStrike">
                <a:solidFill>
                  <a:srgbClr val="334155"/>
                </a:solidFill>
                <a:latin typeface="Vazirmatn"/>
                <a:ea typeface="Vazirmatn"/>
                <a:cs typeface="Vazirmatn"/>
                <a:sym typeface="Vazirmatn"/>
              </a:rPr>
              <a:t> "تو یک مدرس خبره برنامه‌نویسی C هستی."</a:t>
            </a:r>
            <a:endParaRPr sz="1800"/>
          </a:p>
        </p:txBody>
      </p:sp>
      <p:sp>
        <p:nvSpPr>
          <p:cNvPr id="149" name="Google Shape;149;p18"/>
          <p:cNvSpPr txBox="1"/>
          <p:nvPr/>
        </p:nvSpPr>
        <p:spPr>
          <a:xfrm>
            <a:off x="453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[Context] (زمینه)</a:t>
            </a:r>
            <a:endParaRPr sz="1700"/>
          </a:p>
        </p:txBody>
      </p:sp>
      <p:sp>
        <p:nvSpPr>
          <p:cNvPr id="150" name="Google Shape;150;p18"/>
          <p:cNvSpPr txBox="1"/>
          <p:nvPr/>
        </p:nvSpPr>
        <p:spPr>
          <a:xfrm>
            <a:off x="4676775" y="3917602"/>
            <a:ext cx="2838600" cy="11682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اطلاعات پیش‌زمینه چیست؟</a:t>
            </a:r>
            <a:br>
              <a:rPr b="0" i="0" lang="en-US" sz="2100" u="none" cap="none" strike="noStrike">
                <a:solidFill>
                  <a:schemeClr val="dk1"/>
                </a:solidFill>
                <a:latin typeface="Calibri"/>
                <a:ea typeface="Calibri"/>
                <a:cs typeface="Calibri"/>
                <a:sym typeface="Calibri"/>
              </a:rPr>
            </a:br>
            <a:r>
              <a:rPr b="1" i="0" lang="en-US" sz="1650" u="none" cap="none" strike="noStrike">
                <a:solidFill>
                  <a:srgbClr val="334155"/>
                </a:solidFill>
                <a:latin typeface="Vazirmatn"/>
                <a:ea typeface="Vazirmatn"/>
                <a:cs typeface="Vazirmatn"/>
                <a:sym typeface="Vazirmatn"/>
              </a:rPr>
              <a:t>مثال:</a:t>
            </a:r>
            <a:r>
              <a:rPr b="0" i="0" lang="en-US" sz="1650" u="none" cap="none" strike="noStrike">
                <a:solidFill>
                  <a:srgbClr val="334155"/>
                </a:solidFill>
                <a:latin typeface="Vazirmatn"/>
                <a:ea typeface="Vazirmatn"/>
                <a:cs typeface="Vazirmatn"/>
                <a:sym typeface="Vazirmatn"/>
              </a:rPr>
              <a:t> "من دانشجوی ترم اول هستم و در حال یادگیری حلقه‌های while."</a:t>
            </a:r>
            <a:endParaRPr sz="1700"/>
          </a:p>
        </p:txBody>
      </p:sp>
      <p:sp>
        <p:nvSpPr>
          <p:cNvPr id="151" name="Google Shape;151;p18"/>
          <p:cNvSpPr txBox="1"/>
          <p:nvPr/>
        </p:nvSpPr>
        <p:spPr>
          <a:xfrm>
            <a:off x="72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[Task] (وظیفه)</a:t>
            </a:r>
            <a:endParaRPr sz="1700"/>
          </a:p>
        </p:txBody>
      </p:sp>
      <p:sp>
        <p:nvSpPr>
          <p:cNvPr id="152" name="Google Shape;152;p18"/>
          <p:cNvSpPr txBox="1"/>
          <p:nvPr/>
        </p:nvSpPr>
        <p:spPr>
          <a:xfrm>
            <a:off x="866775" y="3917602"/>
            <a:ext cx="2838600" cy="8634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چه کاری باید انجام شود؟</a:t>
            </a:r>
            <a:br>
              <a:rPr b="0" i="0" lang="en-US" sz="2100" u="none" cap="none" strike="noStrike">
                <a:solidFill>
                  <a:schemeClr val="dk1"/>
                </a:solidFill>
                <a:latin typeface="Calibri"/>
                <a:ea typeface="Calibri"/>
                <a:cs typeface="Calibri"/>
                <a:sym typeface="Calibri"/>
              </a:rPr>
            </a:br>
            <a:r>
              <a:rPr b="1" i="0" lang="en-US" sz="1650" u="none" cap="none" strike="noStrike">
                <a:solidFill>
                  <a:srgbClr val="334155"/>
                </a:solidFill>
                <a:latin typeface="Vazirmatn"/>
                <a:ea typeface="Vazirmatn"/>
                <a:cs typeface="Vazirmatn"/>
                <a:sym typeface="Vazirmatn"/>
              </a:rPr>
              <a:t>مثال:</a:t>
            </a:r>
            <a:r>
              <a:rPr b="0" i="0" lang="en-US" sz="1650" u="none" cap="none" strike="noStrike">
                <a:solidFill>
                  <a:srgbClr val="334155"/>
                </a:solidFill>
                <a:latin typeface="Vazirmatn"/>
                <a:ea typeface="Vazirmatn"/>
                <a:cs typeface="Vazirmatn"/>
                <a:sym typeface="Vazirmatn"/>
              </a:rPr>
              <a:t> "این قطعه کد را برای من به صورت گام به گام توضیح بده."</a:t>
            </a:r>
            <a:endParaRPr sz="1700"/>
          </a:p>
        </p:txBody>
      </p:sp>
      <p:pic>
        <p:nvPicPr>
          <p:cNvPr descr="image.png" id="153" name="Google Shape;153;p18"/>
          <p:cNvPicPr preferRelativeResize="0"/>
          <p:nvPr/>
        </p:nvPicPr>
        <p:blipFill rotWithShape="1">
          <a:blip r:embed="rId7">
            <a:alphaModFix/>
          </a:blip>
          <a:srcRect b="0" l="0" r="0" t="0"/>
          <a:stretch/>
        </p:blipFill>
        <p:spPr>
          <a:xfrm>
            <a:off x="10991850" y="2774602"/>
            <a:ext cx="333375" cy="381000"/>
          </a:xfrm>
          <a:prstGeom prst="rect">
            <a:avLst/>
          </a:prstGeom>
          <a:noFill/>
          <a:ln>
            <a:noFill/>
          </a:ln>
        </p:spPr>
      </p:pic>
      <p:pic>
        <p:nvPicPr>
          <p:cNvPr descr="image.png" id="154" name="Google Shape;154;p18"/>
          <p:cNvPicPr preferRelativeResize="0"/>
          <p:nvPr/>
        </p:nvPicPr>
        <p:blipFill rotWithShape="1">
          <a:blip r:embed="rId8">
            <a:alphaModFix/>
          </a:blip>
          <a:srcRect b="0" l="0" r="0" t="0"/>
          <a:stretch/>
        </p:blipFill>
        <p:spPr>
          <a:xfrm>
            <a:off x="7086600" y="2774602"/>
            <a:ext cx="428625" cy="381000"/>
          </a:xfrm>
          <a:prstGeom prst="rect">
            <a:avLst/>
          </a:prstGeom>
          <a:noFill/>
          <a:ln>
            <a:noFill/>
          </a:ln>
        </p:spPr>
      </p:pic>
      <p:pic>
        <p:nvPicPr>
          <p:cNvPr descr="image.png" id="155" name="Google Shape;155;p18"/>
          <p:cNvPicPr preferRelativeResize="0"/>
          <p:nvPr/>
        </p:nvPicPr>
        <p:blipFill rotWithShape="1">
          <a:blip r:embed="rId9">
            <a:alphaModFix/>
          </a:blip>
          <a:srcRect b="0" l="0" r="0" t="0"/>
          <a:stretch/>
        </p:blipFill>
        <p:spPr>
          <a:xfrm>
            <a:off x="3324225" y="2774602"/>
            <a:ext cx="381000" cy="381000"/>
          </a:xfrm>
          <a:prstGeom prst="rect">
            <a:avLst/>
          </a:prstGeom>
          <a:noFill/>
          <a:ln>
            <a:noFill/>
          </a:ln>
        </p:spPr>
      </p:pic>
      <p:sp>
        <p:nvSpPr>
          <p:cNvPr id="156" name="Google Shape;156;p18"/>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اجزای کلیدی یک پرامپت</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pic>
        <p:nvPicPr>
          <p:cNvPr descr="image.png" id="161" name="Google Shape;161;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2" name="Google Shape;162;p19"/>
          <p:cNvPicPr preferRelativeResize="0"/>
          <p:nvPr/>
        </p:nvPicPr>
        <p:blipFill rotWithShape="1">
          <a:blip r:embed="rId4">
            <a:alphaModFix/>
          </a:blip>
          <a:srcRect b="0" l="0" r="0" t="0"/>
          <a:stretch/>
        </p:blipFill>
        <p:spPr>
          <a:xfrm>
            <a:off x="8191500" y="2469802"/>
            <a:ext cx="3429000" cy="2737395"/>
          </a:xfrm>
          <a:prstGeom prst="rect">
            <a:avLst/>
          </a:prstGeom>
          <a:noFill/>
          <a:ln>
            <a:noFill/>
          </a:ln>
        </p:spPr>
      </p:pic>
      <p:pic>
        <p:nvPicPr>
          <p:cNvPr descr="image.png" id="163" name="Google Shape;163;p19"/>
          <p:cNvPicPr preferRelativeResize="0"/>
          <p:nvPr/>
        </p:nvPicPr>
        <p:blipFill rotWithShape="1">
          <a:blip r:embed="rId5">
            <a:alphaModFix/>
          </a:blip>
          <a:srcRect b="0" l="0" r="0" t="0"/>
          <a:stretch/>
        </p:blipFill>
        <p:spPr>
          <a:xfrm>
            <a:off x="4381500" y="2469802"/>
            <a:ext cx="3429000" cy="2737395"/>
          </a:xfrm>
          <a:prstGeom prst="rect">
            <a:avLst/>
          </a:prstGeom>
          <a:noFill/>
          <a:ln>
            <a:noFill/>
          </a:ln>
        </p:spPr>
      </p:pic>
      <p:pic>
        <p:nvPicPr>
          <p:cNvPr descr="image.png" id="164" name="Google Shape;164;p19"/>
          <p:cNvPicPr preferRelativeResize="0"/>
          <p:nvPr/>
        </p:nvPicPr>
        <p:blipFill rotWithShape="1">
          <a:blip r:embed="rId6">
            <a:alphaModFix/>
          </a:blip>
          <a:srcRect b="0" l="0" r="0" t="0"/>
          <a:stretch/>
        </p:blipFill>
        <p:spPr>
          <a:xfrm>
            <a:off x="571500" y="2469802"/>
            <a:ext cx="3429000" cy="2737395"/>
          </a:xfrm>
          <a:prstGeom prst="rect">
            <a:avLst/>
          </a:prstGeom>
          <a:noFill/>
          <a:ln>
            <a:noFill/>
          </a:ln>
        </p:spPr>
      </p:pic>
      <p:sp>
        <p:nvSpPr>
          <p:cNvPr id="165" name="Google Shape;165;p19"/>
          <p:cNvSpPr txBox="1"/>
          <p:nvPr/>
        </p:nvSpPr>
        <p:spPr>
          <a:xfrm>
            <a:off x="834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[Exemplar] (نمونه)</a:t>
            </a:r>
            <a:endParaRPr sz="1700"/>
          </a:p>
        </p:txBody>
      </p:sp>
      <p:sp>
        <p:nvSpPr>
          <p:cNvPr id="166" name="Google Shape;166;p19"/>
          <p:cNvSpPr txBox="1"/>
          <p:nvPr/>
        </p:nvSpPr>
        <p:spPr>
          <a:xfrm>
            <a:off x="8486775" y="3917602"/>
            <a:ext cx="2838600" cy="5586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آیا مثالی برای تقلید وجود دارد؟</a:t>
            </a:r>
            <a:br>
              <a:rPr b="0" i="0" lang="en-US" sz="2100" u="none" cap="none" strike="noStrike">
                <a:solidFill>
                  <a:schemeClr val="dk1"/>
                </a:solidFill>
                <a:latin typeface="Calibri"/>
                <a:ea typeface="Calibri"/>
                <a:cs typeface="Calibri"/>
                <a:sym typeface="Calibri"/>
              </a:rPr>
            </a:br>
            <a:r>
              <a:rPr b="1" i="0" lang="en-US" sz="1650" u="none" cap="none" strike="noStrike">
                <a:solidFill>
                  <a:srgbClr val="334155"/>
                </a:solidFill>
                <a:latin typeface="Vazirmatn"/>
                <a:ea typeface="Vazirmatn"/>
                <a:cs typeface="Vazirmatn"/>
                <a:sym typeface="Vazirmatn"/>
              </a:rPr>
              <a:t>مثال:</a:t>
            </a:r>
            <a:r>
              <a:rPr b="0" i="0" lang="en-US" sz="1650" u="none" cap="none" strike="noStrike">
                <a:solidFill>
                  <a:srgbClr val="334155"/>
                </a:solidFill>
                <a:latin typeface="Vazirmatn"/>
                <a:ea typeface="Vazirmatn"/>
                <a:cs typeface="Vazirmatn"/>
                <a:sym typeface="Vazirmatn"/>
              </a:rPr>
              <a:t> </a:t>
            </a:r>
            <a:r>
              <a:rPr lang="en-US" sz="1650">
                <a:solidFill>
                  <a:srgbClr val="334155"/>
                </a:solidFill>
                <a:latin typeface="Vazirmatn"/>
                <a:ea typeface="Vazirmatn"/>
                <a:cs typeface="Vazirmatn"/>
                <a:sym typeface="Vazirmatn"/>
              </a:rPr>
              <a:t>کد نمونه با بسته زی‌پرشین</a:t>
            </a:r>
            <a:endParaRPr sz="1700"/>
          </a:p>
        </p:txBody>
      </p:sp>
      <p:sp>
        <p:nvSpPr>
          <p:cNvPr id="167" name="Google Shape;167;p19"/>
          <p:cNvSpPr txBox="1"/>
          <p:nvPr/>
        </p:nvSpPr>
        <p:spPr>
          <a:xfrm>
            <a:off x="453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[Format] (قالب)</a:t>
            </a:r>
            <a:endParaRPr sz="1700"/>
          </a:p>
        </p:txBody>
      </p:sp>
      <p:sp>
        <p:nvSpPr>
          <p:cNvPr id="168" name="Google Shape;168;p19"/>
          <p:cNvSpPr txBox="1"/>
          <p:nvPr/>
        </p:nvSpPr>
        <p:spPr>
          <a:xfrm>
            <a:off x="4676775" y="3917602"/>
            <a:ext cx="2838600" cy="11682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خروجی چگونه باشد؟</a:t>
            </a:r>
            <a:br>
              <a:rPr b="0" i="0" lang="en-US" sz="2100" u="none" cap="none" strike="noStrike">
                <a:solidFill>
                  <a:schemeClr val="dk1"/>
                </a:solidFill>
                <a:latin typeface="Calibri"/>
                <a:ea typeface="Calibri"/>
                <a:cs typeface="Calibri"/>
                <a:sym typeface="Calibri"/>
              </a:rPr>
            </a:br>
            <a:r>
              <a:rPr b="1" i="0" lang="en-US" sz="1650" u="none" cap="none" strike="noStrike">
                <a:solidFill>
                  <a:srgbClr val="334155"/>
                </a:solidFill>
                <a:latin typeface="Vazirmatn"/>
                <a:ea typeface="Vazirmatn"/>
                <a:cs typeface="Vazirmatn"/>
                <a:sym typeface="Vazirmatn"/>
              </a:rPr>
              <a:t>مثال:</a:t>
            </a:r>
            <a:r>
              <a:rPr b="0" i="0" lang="en-US" sz="1650" u="none" cap="none" strike="noStrike">
                <a:solidFill>
                  <a:srgbClr val="334155"/>
                </a:solidFill>
                <a:latin typeface="Vazirmatn"/>
                <a:ea typeface="Vazirmatn"/>
                <a:cs typeface="Vazirmatn"/>
                <a:sym typeface="Vazirmatn"/>
              </a:rPr>
              <a:t> "توضیحات را به صورت لیست گلوله‌ای (bullet points) ارائه بده. یا در قالب لاتک بده"</a:t>
            </a:r>
            <a:endParaRPr sz="1700"/>
          </a:p>
        </p:txBody>
      </p:sp>
      <p:sp>
        <p:nvSpPr>
          <p:cNvPr id="169" name="Google Shape;169;p19"/>
          <p:cNvSpPr txBox="1"/>
          <p:nvPr/>
        </p:nvSpPr>
        <p:spPr>
          <a:xfrm>
            <a:off x="724852" y="3336577"/>
            <a:ext cx="2980500" cy="3231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2100" u="none" cap="none" strike="noStrike">
                <a:solidFill>
                  <a:srgbClr val="0B3954"/>
                </a:solidFill>
                <a:latin typeface="Vazirmatn"/>
                <a:ea typeface="Vazirmatn"/>
                <a:cs typeface="Vazirmatn"/>
                <a:sym typeface="Vazirmatn"/>
              </a:rPr>
              <a:t>[Tone] (لحن)</a:t>
            </a:r>
            <a:endParaRPr sz="1700"/>
          </a:p>
        </p:txBody>
      </p:sp>
      <p:sp>
        <p:nvSpPr>
          <p:cNvPr id="170" name="Google Shape;170;p19"/>
          <p:cNvSpPr txBox="1"/>
          <p:nvPr/>
        </p:nvSpPr>
        <p:spPr>
          <a:xfrm>
            <a:off x="866775" y="3917602"/>
            <a:ext cx="2838600" cy="863400"/>
          </a:xfrm>
          <a:prstGeom prst="rect">
            <a:avLst/>
          </a:prstGeom>
          <a:noFill/>
          <a:ln>
            <a:noFill/>
          </a:ln>
        </p:spPr>
        <p:txBody>
          <a:bodyPr anchorCtr="0" anchor="t" bIns="0" lIns="0" spcFirstLastPara="1" rIns="0" wrap="square" tIns="0">
            <a:spAutoFit/>
          </a:bodyPr>
          <a:lstStyle/>
          <a:p>
            <a:pPr indent="0" lvl="0" marL="0" marR="0" rtl="1" algn="r">
              <a:lnSpc>
                <a:spcPct val="12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لحن خروجی چگونه باشد؟</a:t>
            </a:r>
            <a:br>
              <a:rPr b="0" i="0" lang="en-US" sz="2100" u="none" cap="none" strike="noStrike">
                <a:solidFill>
                  <a:schemeClr val="dk1"/>
                </a:solidFill>
                <a:latin typeface="Calibri"/>
                <a:ea typeface="Calibri"/>
                <a:cs typeface="Calibri"/>
                <a:sym typeface="Calibri"/>
              </a:rPr>
            </a:br>
            <a:r>
              <a:rPr b="1" i="0" lang="en-US" sz="1650" u="none" cap="none" strike="noStrike">
                <a:solidFill>
                  <a:srgbClr val="334155"/>
                </a:solidFill>
                <a:latin typeface="Vazirmatn"/>
                <a:ea typeface="Vazirmatn"/>
                <a:cs typeface="Vazirmatn"/>
                <a:sym typeface="Vazirmatn"/>
              </a:rPr>
              <a:t>مثال:</a:t>
            </a:r>
            <a:r>
              <a:rPr b="0" i="0" lang="en-US" sz="1650" u="none" cap="none" strike="noStrike">
                <a:solidFill>
                  <a:srgbClr val="334155"/>
                </a:solidFill>
                <a:latin typeface="Vazirmatn"/>
                <a:ea typeface="Vazirmatn"/>
                <a:cs typeface="Vazirmatn"/>
                <a:sym typeface="Vazirmatn"/>
              </a:rPr>
              <a:t> "با لحنی ساده، دوستانه و تشویق‌کننده صحبت کن."</a:t>
            </a:r>
            <a:endParaRPr sz="1700"/>
          </a:p>
        </p:txBody>
      </p:sp>
      <p:pic>
        <p:nvPicPr>
          <p:cNvPr descr="image.png" id="171" name="Google Shape;171;p19"/>
          <p:cNvPicPr preferRelativeResize="0"/>
          <p:nvPr/>
        </p:nvPicPr>
        <p:blipFill rotWithShape="1">
          <a:blip r:embed="rId7">
            <a:alphaModFix/>
          </a:blip>
          <a:srcRect b="0" l="0" r="0" t="0"/>
          <a:stretch/>
        </p:blipFill>
        <p:spPr>
          <a:xfrm>
            <a:off x="11039475" y="2774602"/>
            <a:ext cx="285750" cy="381000"/>
          </a:xfrm>
          <a:prstGeom prst="rect">
            <a:avLst/>
          </a:prstGeom>
          <a:noFill/>
          <a:ln>
            <a:noFill/>
          </a:ln>
        </p:spPr>
      </p:pic>
      <p:pic>
        <p:nvPicPr>
          <p:cNvPr descr="image.png" id="172" name="Google Shape;172;p19"/>
          <p:cNvPicPr preferRelativeResize="0"/>
          <p:nvPr/>
        </p:nvPicPr>
        <p:blipFill rotWithShape="1">
          <a:blip r:embed="rId8">
            <a:alphaModFix/>
          </a:blip>
          <a:srcRect b="0" l="0" r="0" t="0"/>
          <a:stretch/>
        </p:blipFill>
        <p:spPr>
          <a:xfrm>
            <a:off x="7229475" y="2774602"/>
            <a:ext cx="285750" cy="381000"/>
          </a:xfrm>
          <a:prstGeom prst="rect">
            <a:avLst/>
          </a:prstGeom>
          <a:noFill/>
          <a:ln>
            <a:noFill/>
          </a:ln>
        </p:spPr>
      </p:pic>
      <p:pic>
        <p:nvPicPr>
          <p:cNvPr descr="image.png" id="173" name="Google Shape;173;p19"/>
          <p:cNvPicPr preferRelativeResize="0"/>
          <p:nvPr/>
        </p:nvPicPr>
        <p:blipFill rotWithShape="1">
          <a:blip r:embed="rId9">
            <a:alphaModFix/>
          </a:blip>
          <a:srcRect b="0" l="0" r="0" t="0"/>
          <a:stretch/>
        </p:blipFill>
        <p:spPr>
          <a:xfrm>
            <a:off x="3228975" y="2774602"/>
            <a:ext cx="476250" cy="381000"/>
          </a:xfrm>
          <a:prstGeom prst="rect">
            <a:avLst/>
          </a:prstGeom>
          <a:noFill/>
          <a:ln>
            <a:noFill/>
          </a:ln>
        </p:spPr>
      </p:pic>
      <p:sp>
        <p:nvSpPr>
          <p:cNvPr id="174" name="Google Shape;174;p19"/>
          <p:cNvSpPr txBox="1"/>
          <p:nvPr/>
        </p:nvSpPr>
        <p:spPr>
          <a:xfrm>
            <a:off x="19050" y="571500"/>
            <a:ext cx="11601600" cy="461700"/>
          </a:xfrm>
          <a:prstGeom prst="rect">
            <a:avLst/>
          </a:prstGeom>
          <a:noFill/>
          <a:ln>
            <a:noFill/>
          </a:ln>
        </p:spPr>
        <p:txBody>
          <a:bodyPr anchorCtr="0" anchor="t" bIns="0" lIns="0" spcFirstLastPara="1" rIns="0" wrap="square" tIns="0">
            <a:spAutoFit/>
          </a:bodyPr>
          <a:lstStyle/>
          <a:p>
            <a:pPr indent="0" lvl="0" marL="0" marR="0" rtl="1" algn="r">
              <a:spcBef>
                <a:spcPts val="0"/>
              </a:spcBef>
              <a:spcAft>
                <a:spcPts val="0"/>
              </a:spcAft>
              <a:buNone/>
            </a:pPr>
            <a:r>
              <a:rPr b="1" i="0" lang="en-US" sz="3000" u="none" cap="none" strike="noStrike">
                <a:solidFill>
                  <a:srgbClr val="0B3954"/>
                </a:solidFill>
                <a:latin typeface="Vazirmatn"/>
                <a:ea typeface="Vazirmatn"/>
                <a:cs typeface="Vazirmatn"/>
                <a:sym typeface="Vazirmatn"/>
              </a:rPr>
              <a:t>تکمیل پرامپت (اختیاری اما مفید)</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pic>
        <p:nvPicPr>
          <p:cNvPr descr="image.png" id="179" name="Google Shape;179;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0" name="Google Shape;180;p20"/>
          <p:cNvSpPr txBox="1"/>
          <p:nvPr/>
        </p:nvSpPr>
        <p:spPr>
          <a:xfrm>
            <a:off x="1445258" y="2523232"/>
            <a:ext cx="9301500" cy="1385400"/>
          </a:xfrm>
          <a:prstGeom prst="rect">
            <a:avLst/>
          </a:prstGeom>
          <a:noFill/>
          <a:ln>
            <a:noFill/>
          </a:ln>
        </p:spPr>
        <p:txBody>
          <a:bodyPr anchorCtr="0" anchor="t" bIns="0" lIns="0" spcFirstLastPara="1" rIns="0" wrap="square" tIns="0">
            <a:spAutoFit/>
          </a:bodyPr>
          <a:lstStyle/>
          <a:p>
            <a:pPr indent="0" lvl="0" marL="0" marR="0" rtl="1" algn="ctr">
              <a:spcBef>
                <a:spcPts val="0"/>
              </a:spcBef>
              <a:spcAft>
                <a:spcPts val="0"/>
              </a:spcAft>
              <a:buNone/>
            </a:pPr>
            <a:r>
              <a:rPr b="1" i="0" lang="en-US" sz="4500" u="none" cap="none" strike="noStrike">
                <a:solidFill>
                  <a:srgbClr val="0B3954"/>
                </a:solidFill>
                <a:latin typeface="Vazirmatn"/>
                <a:ea typeface="Vazirmatn"/>
                <a:cs typeface="Vazirmatn"/>
                <a:sym typeface="Vazirmatn"/>
              </a:rPr>
              <a:t>استفاده از AI به عنوان دستیار برنامه‌نویسی C</a:t>
            </a:r>
            <a:endParaRPr/>
          </a:p>
        </p:txBody>
      </p:sp>
      <p:sp>
        <p:nvSpPr>
          <p:cNvPr id="181" name="Google Shape;181;p20"/>
          <p:cNvSpPr/>
          <p:nvPr/>
        </p:nvSpPr>
        <p:spPr>
          <a:xfrm>
            <a:off x="5619750" y="4017632"/>
            <a:ext cx="952500" cy="47700"/>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2" name="Google Shape;182;p20"/>
          <p:cNvSpPr txBox="1"/>
          <p:nvPr/>
        </p:nvSpPr>
        <p:spPr>
          <a:xfrm>
            <a:off x="2409850" y="4340650"/>
            <a:ext cx="7335900" cy="361800"/>
          </a:xfrm>
          <a:prstGeom prst="rect">
            <a:avLst/>
          </a:prstGeom>
          <a:noFill/>
          <a:ln>
            <a:noFill/>
          </a:ln>
        </p:spPr>
        <p:txBody>
          <a:bodyPr anchorCtr="0" anchor="t" bIns="0" lIns="0" spcFirstLastPara="1" rIns="0" wrap="square" tIns="0">
            <a:spAutoFit/>
          </a:bodyPr>
          <a:lstStyle/>
          <a:p>
            <a:pPr indent="0" lvl="0" marL="0" marR="0" rtl="1" algn="r">
              <a:lnSpc>
                <a:spcPct val="160000"/>
              </a:lnSpc>
              <a:spcBef>
                <a:spcPts val="0"/>
              </a:spcBef>
              <a:spcAft>
                <a:spcPts val="0"/>
              </a:spcAft>
              <a:buNone/>
            </a:pPr>
            <a:r>
              <a:rPr b="1" i="0" lang="en-US" sz="2350" u="none" cap="none" strike="noStrike">
                <a:solidFill>
                  <a:srgbClr val="475569"/>
                </a:solidFill>
                <a:latin typeface="Vazirmatn"/>
                <a:ea typeface="Vazirmatn"/>
                <a:cs typeface="Vazirmatn"/>
                <a:sym typeface="Vazirmatn"/>
              </a:rPr>
              <a:t>هشدار مهم:</a:t>
            </a:r>
            <a:r>
              <a:rPr b="0" i="0" lang="en-US" sz="2350" u="none" cap="none" strike="noStrike">
                <a:solidFill>
                  <a:srgbClr val="475569"/>
                </a:solidFill>
                <a:latin typeface="Vazirmatn"/>
                <a:ea typeface="Vazirmatn"/>
                <a:cs typeface="Vazirmatn"/>
                <a:sym typeface="Vazirmatn"/>
              </a:rPr>
              <a:t> تمرکز بر «توضیح مفاهیم» باشد، نه «حل تمرین»!</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pic>
        <p:nvPicPr>
          <p:cNvPr descr="image.png" id="187" name="Google Shape;187;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8" name="Google Shape;188;p21"/>
          <p:cNvPicPr preferRelativeResize="0"/>
          <p:nvPr/>
        </p:nvPicPr>
        <p:blipFill rotWithShape="1">
          <a:blip r:embed="rId4">
            <a:alphaModFix/>
          </a:blip>
          <a:srcRect b="0" l="0" r="0" t="0"/>
          <a:stretch/>
        </p:blipFill>
        <p:spPr>
          <a:xfrm>
            <a:off x="6334125" y="2109787"/>
            <a:ext cx="5286375" cy="3457575"/>
          </a:xfrm>
          <a:prstGeom prst="rect">
            <a:avLst/>
          </a:prstGeom>
          <a:noFill/>
          <a:ln>
            <a:noFill/>
          </a:ln>
        </p:spPr>
      </p:pic>
      <p:pic>
        <p:nvPicPr>
          <p:cNvPr descr="image.png" id="189" name="Google Shape;189;p21"/>
          <p:cNvPicPr preferRelativeResize="0"/>
          <p:nvPr/>
        </p:nvPicPr>
        <p:blipFill rotWithShape="1">
          <a:blip r:embed="rId5">
            <a:alphaModFix/>
          </a:blip>
          <a:srcRect b="0" l="0" r="0" t="0"/>
          <a:stretch/>
        </p:blipFill>
        <p:spPr>
          <a:xfrm>
            <a:off x="571500" y="2109787"/>
            <a:ext cx="5286375" cy="3457575"/>
          </a:xfrm>
          <a:prstGeom prst="rect">
            <a:avLst/>
          </a:prstGeom>
          <a:noFill/>
          <a:ln>
            <a:noFill/>
          </a:ln>
        </p:spPr>
      </p:pic>
      <p:pic>
        <p:nvPicPr>
          <p:cNvPr descr="image.png" id="190" name="Google Shape;190;p21"/>
          <p:cNvPicPr preferRelativeResize="0"/>
          <p:nvPr/>
        </p:nvPicPr>
        <p:blipFill rotWithShape="1">
          <a:blip r:embed="rId6">
            <a:alphaModFix/>
          </a:blip>
          <a:srcRect b="0" l="0" r="0" t="0"/>
          <a:stretch/>
        </p:blipFill>
        <p:spPr>
          <a:xfrm>
            <a:off x="6724650" y="3252787"/>
            <a:ext cx="4505325" cy="1285875"/>
          </a:xfrm>
          <a:prstGeom prst="rect">
            <a:avLst/>
          </a:prstGeom>
          <a:noFill/>
          <a:ln>
            <a:noFill/>
          </a:ln>
        </p:spPr>
      </p:pic>
      <p:pic>
        <p:nvPicPr>
          <p:cNvPr descr="image.png" id="191" name="Google Shape;191;p21"/>
          <p:cNvPicPr preferRelativeResize="0"/>
          <p:nvPr/>
        </p:nvPicPr>
        <p:blipFill rotWithShape="1">
          <a:blip r:embed="rId7">
            <a:alphaModFix/>
          </a:blip>
          <a:srcRect b="0" l="0" r="0" t="0"/>
          <a:stretch/>
        </p:blipFill>
        <p:spPr>
          <a:xfrm>
            <a:off x="962025" y="3252787"/>
            <a:ext cx="4505325" cy="1285875"/>
          </a:xfrm>
          <a:prstGeom prst="rect">
            <a:avLst/>
          </a:prstGeom>
          <a:noFill/>
          <a:ln>
            <a:noFill/>
          </a:ln>
        </p:spPr>
      </p:pic>
      <p:sp>
        <p:nvSpPr>
          <p:cNvPr id="192" name="Google Shape;192;p21"/>
          <p:cNvSpPr txBox="1"/>
          <p:nvPr/>
        </p:nvSpPr>
        <p:spPr>
          <a:xfrm>
            <a:off x="6499383" y="2500312"/>
            <a:ext cx="4730700" cy="369300"/>
          </a:xfrm>
          <a:prstGeom prst="rect">
            <a:avLst/>
          </a:prstGeom>
          <a:noFill/>
          <a:ln>
            <a:noFill/>
          </a:ln>
        </p:spPr>
        <p:txBody>
          <a:bodyPr anchorCtr="0" anchor="t" bIns="0" lIns="0" spcFirstLastPara="1" rIns="0" wrap="square" tIns="0">
            <a:spAutoFit/>
          </a:bodyPr>
          <a:lstStyle/>
          <a:p>
            <a:pPr indent="0" lvl="0" marL="0" marR="0" rtl="1" algn="r">
              <a:spcBef>
                <a:spcPts val="0"/>
              </a:spcBef>
              <a:spcAft>
                <a:spcPts val="0"/>
              </a:spcAft>
              <a:buNone/>
            </a:pPr>
            <a:r>
              <a:rPr b="0" i="0" lang="en-US" sz="2400" u="none" cap="none" strike="noStrike">
                <a:solidFill>
                  <a:srgbClr val="0B3954"/>
                </a:solidFill>
                <a:latin typeface="Vazirmatn"/>
                <a:ea typeface="Vazirmatn"/>
                <a:cs typeface="Vazirmatn"/>
                <a:sym typeface="Vazirmatn"/>
              </a:rPr>
              <a:t>پرامپت ضعیف (فقط حل مسئله)</a:t>
            </a:r>
            <a:endParaRPr/>
          </a:p>
        </p:txBody>
      </p:sp>
      <p:sp>
        <p:nvSpPr>
          <p:cNvPr id="193" name="Google Shape;193;p21"/>
          <p:cNvSpPr/>
          <p:nvPr/>
        </p:nvSpPr>
        <p:spPr>
          <a:xfrm>
            <a:off x="6724650" y="2947987"/>
            <a:ext cx="4505325" cy="19050"/>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1"/>
          <p:cNvSpPr txBox="1"/>
          <p:nvPr/>
        </p:nvSpPr>
        <p:spPr>
          <a:xfrm>
            <a:off x="6724650" y="4681537"/>
            <a:ext cx="4505325" cy="3048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1" i="0" lang="en-US" sz="1500" u="none" cap="none" strike="noStrike">
                <a:solidFill>
                  <a:srgbClr val="334155"/>
                </a:solidFill>
                <a:latin typeface="Vazirmatn"/>
                <a:ea typeface="Vazirmatn"/>
                <a:cs typeface="Vazirmatn"/>
                <a:sym typeface="Vazirmatn"/>
              </a:rPr>
              <a:t>نتیجه:</a:t>
            </a:r>
            <a:r>
              <a:rPr b="0" i="0" lang="en-US" sz="1500" u="none" cap="none" strike="noStrike">
                <a:solidFill>
                  <a:srgbClr val="334155"/>
                </a:solidFill>
                <a:latin typeface="Vazirmatn"/>
                <a:ea typeface="Vazirmatn"/>
                <a:cs typeface="Vazirmatn"/>
                <a:sym typeface="Vazirmatn"/>
              </a:rPr>
              <a:t> فقط به شما «جواب» می‌دهد. (یادگیری اتفاق نمی‌افتد)</a:t>
            </a:r>
            <a:endParaRPr/>
          </a:p>
        </p:txBody>
      </p:sp>
      <p:sp>
        <p:nvSpPr>
          <p:cNvPr id="195" name="Google Shape;195;p21"/>
          <p:cNvSpPr txBox="1"/>
          <p:nvPr/>
        </p:nvSpPr>
        <p:spPr>
          <a:xfrm>
            <a:off x="736758" y="2500312"/>
            <a:ext cx="4730700" cy="369300"/>
          </a:xfrm>
          <a:prstGeom prst="rect">
            <a:avLst/>
          </a:prstGeom>
          <a:noFill/>
          <a:ln>
            <a:noFill/>
          </a:ln>
        </p:spPr>
        <p:txBody>
          <a:bodyPr anchorCtr="0" anchor="t" bIns="0" lIns="0" spcFirstLastPara="1" rIns="0" wrap="square" tIns="0">
            <a:spAutoFit/>
          </a:bodyPr>
          <a:lstStyle/>
          <a:p>
            <a:pPr indent="0" lvl="0" marL="0" marR="0" rtl="1" algn="r">
              <a:spcBef>
                <a:spcPts val="0"/>
              </a:spcBef>
              <a:spcAft>
                <a:spcPts val="0"/>
              </a:spcAft>
              <a:buNone/>
            </a:pPr>
            <a:r>
              <a:rPr b="0" i="0" lang="en-US" sz="2400" u="none" cap="none" strike="noStrike">
                <a:solidFill>
                  <a:srgbClr val="0B3954"/>
                </a:solidFill>
                <a:latin typeface="Vazirmatn"/>
                <a:ea typeface="Vazirmatn"/>
                <a:cs typeface="Vazirmatn"/>
                <a:sym typeface="Vazirmatn"/>
              </a:rPr>
              <a:t>پرامپت قوی (درخواست یادگیری)</a:t>
            </a:r>
            <a:endParaRPr/>
          </a:p>
        </p:txBody>
      </p:sp>
      <p:sp>
        <p:nvSpPr>
          <p:cNvPr id="196" name="Google Shape;196;p21"/>
          <p:cNvSpPr/>
          <p:nvPr/>
        </p:nvSpPr>
        <p:spPr>
          <a:xfrm>
            <a:off x="962025" y="2947987"/>
            <a:ext cx="4505325" cy="19050"/>
          </a:xfrm>
          <a:prstGeom prst="rect">
            <a:avLst/>
          </a:prstGeom>
          <a:solidFill>
            <a:srgbClr val="087E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1"/>
          <p:cNvSpPr txBox="1"/>
          <p:nvPr/>
        </p:nvSpPr>
        <p:spPr>
          <a:xfrm>
            <a:off x="962025" y="4681537"/>
            <a:ext cx="4505325" cy="30480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1" i="0" lang="en-US" sz="1500" u="none" cap="none" strike="noStrike">
                <a:solidFill>
                  <a:srgbClr val="334155"/>
                </a:solidFill>
                <a:latin typeface="Vazirmatn"/>
                <a:ea typeface="Vazirmatn"/>
                <a:cs typeface="Vazirmatn"/>
                <a:sym typeface="Vazirmatn"/>
              </a:rPr>
              <a:t>نتیجه:</a:t>
            </a:r>
            <a:r>
              <a:rPr b="0" i="0" lang="en-US" sz="1500" u="none" cap="none" strike="noStrike">
                <a:solidFill>
                  <a:srgbClr val="334155"/>
                </a:solidFill>
                <a:latin typeface="Vazirmatn"/>
                <a:ea typeface="Vazirmatn"/>
                <a:cs typeface="Vazirmatn"/>
                <a:sym typeface="Vazirmatn"/>
              </a:rPr>
              <a:t> به شما «آموزش» می‌دهد.</a:t>
            </a:r>
            <a:endParaRPr/>
          </a:p>
        </p:txBody>
      </p:sp>
      <p:sp>
        <p:nvSpPr>
          <p:cNvPr id="198" name="Google Shape;198;p21"/>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مثال ۱: «توضیح» به جای «حل»</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descr="image.png" id="203" name="Google Shape;203;p22"/>
          <p:cNvPicPr preferRelativeResize="0"/>
          <p:nvPr/>
        </p:nvPicPr>
        <p:blipFill rotWithShape="1">
          <a:blip r:embed="rId3">
            <a:alphaModFix/>
          </a:blip>
          <a:srcRect b="0" l="0" r="0" t="0"/>
          <a:stretch/>
        </p:blipFill>
        <p:spPr>
          <a:xfrm>
            <a:off x="0" y="454925"/>
            <a:ext cx="12192000" cy="6858000"/>
          </a:xfrm>
          <a:prstGeom prst="rect">
            <a:avLst/>
          </a:prstGeom>
          <a:noFill/>
          <a:ln>
            <a:noFill/>
          </a:ln>
        </p:spPr>
      </p:pic>
      <p:pic>
        <p:nvPicPr>
          <p:cNvPr descr="image.png" id="204" name="Google Shape;204;p22"/>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205" name="Google Shape;205;p22"/>
          <p:cNvSpPr txBox="1"/>
          <p:nvPr/>
        </p:nvSpPr>
        <p:spPr>
          <a:xfrm>
            <a:off x="-264318" y="804862"/>
            <a:ext cx="5550693"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مثال ۲: یادگیری از خطاها</a:t>
            </a:r>
            <a:endParaRPr/>
          </a:p>
        </p:txBody>
      </p:sp>
      <p:sp>
        <p:nvSpPr>
          <p:cNvPr id="206" name="Google Shape;206;p22"/>
          <p:cNvSpPr txBox="1"/>
          <p:nvPr/>
        </p:nvSpPr>
        <p:spPr>
          <a:xfrm>
            <a:off x="-264318" y="1433512"/>
            <a:ext cx="5550693" cy="2667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800" u="none" cap="none" strike="noStrike">
                <a:solidFill>
                  <a:srgbClr val="087E8B"/>
                </a:solidFill>
                <a:latin typeface="Vazirmatn"/>
                <a:ea typeface="Vazirmatn"/>
                <a:cs typeface="Vazirmatn"/>
                <a:sym typeface="Vazirmatn"/>
              </a:rPr>
              <a:t>پرامپت برای رفع خطا (Bug)</a:t>
            </a:r>
            <a:endParaRPr/>
          </a:p>
        </p:txBody>
      </p:sp>
      <p:sp>
        <p:nvSpPr>
          <p:cNvPr id="207" name="Google Shape;207;p22"/>
          <p:cNvSpPr txBox="1"/>
          <p:nvPr/>
        </p:nvSpPr>
        <p:spPr>
          <a:xfrm>
            <a:off x="372775" y="2033575"/>
            <a:ext cx="4913400" cy="1339200"/>
          </a:xfrm>
          <a:prstGeom prst="rect">
            <a:avLst/>
          </a:prstGeom>
          <a:noFill/>
          <a:ln>
            <a:noFill/>
          </a:ln>
        </p:spPr>
        <p:txBody>
          <a:bodyPr anchorCtr="0" anchor="t" bIns="0" lIns="0" spcFirstLastPara="1" rIns="0" wrap="square" tIns="0">
            <a:spAutoFit/>
          </a:bodyPr>
          <a:lstStyle/>
          <a:p>
            <a:pPr indent="0" lvl="0" marL="0" marR="0" rtl="1" algn="r">
              <a:lnSpc>
                <a:spcPct val="160000"/>
              </a:lnSpc>
              <a:spcBef>
                <a:spcPts val="0"/>
              </a:spcBef>
              <a:spcAft>
                <a:spcPts val="0"/>
              </a:spcAft>
              <a:buNone/>
            </a:pPr>
            <a:r>
              <a:rPr b="0" i="0" lang="en-US" sz="1500" u="none" cap="none" strike="noStrike">
                <a:solidFill>
                  <a:srgbClr val="334155"/>
                </a:solidFill>
                <a:latin typeface="Vazirmatn"/>
                <a:ea typeface="Vazirmatn"/>
                <a:cs typeface="Vazirmatn"/>
                <a:sym typeface="Vazirmatn"/>
              </a:rPr>
              <a:t>"</a:t>
            </a:r>
            <a:r>
              <a:rPr lang="en-US" sz="1500">
                <a:solidFill>
                  <a:srgbClr val="334155"/>
                </a:solidFill>
                <a:latin typeface="Vazirmatn"/>
                <a:ea typeface="Vazirmatn"/>
                <a:cs typeface="Vazirmatn"/>
                <a:sym typeface="Vazirmatn"/>
              </a:rPr>
              <a:t>"تو یک مدرس زبان C هستی و من یک دانشجوی ترم اول علوم کامپیوتر که در حال یادگیری زبان C‌هستم. کد زیر قرار است فاکتوریل 5 را حساب کند، اما عدد اشتباهی (0) می‌دهد. مشکل کجاست؟ بدون دادن پاسخ دقیق، مرا راهنمایی کن</a:t>
            </a:r>
            <a:r>
              <a:rPr b="0" i="0" lang="en-US" sz="1500" u="none" cap="none" strike="noStrike">
                <a:solidFill>
                  <a:srgbClr val="334155"/>
                </a:solidFill>
                <a:latin typeface="Vazirmatn"/>
                <a:ea typeface="Vazirmatn"/>
                <a:cs typeface="Vazirmatn"/>
                <a:sym typeface="Vazirmatn"/>
              </a:rPr>
              <a:t>"</a:t>
            </a:r>
            <a:endParaRPr/>
          </a:p>
        </p:txBody>
      </p:sp>
      <p:sp>
        <p:nvSpPr>
          <p:cNvPr id="208" name="Google Shape;208;p22"/>
          <p:cNvSpPr txBox="1"/>
          <p:nvPr/>
        </p:nvSpPr>
        <p:spPr>
          <a:xfrm>
            <a:off x="180700" y="5996262"/>
            <a:ext cx="5286300" cy="600300"/>
          </a:xfrm>
          <a:prstGeom prst="rect">
            <a:avLst/>
          </a:prstGeom>
          <a:noFill/>
          <a:ln>
            <a:noFill/>
          </a:ln>
        </p:spPr>
        <p:txBody>
          <a:bodyPr anchorCtr="0" anchor="t" bIns="0" lIns="0"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334155"/>
                </a:solidFill>
                <a:latin typeface="Vazirmatn"/>
                <a:ea typeface="Vazirmatn"/>
                <a:cs typeface="Vazirmatn"/>
                <a:sym typeface="Vazirmatn"/>
              </a:rPr>
              <a:t>(پاسخ مورد انتظار AI):</a:t>
            </a:r>
            <a:r>
              <a:rPr b="0" i="0" lang="en-US" sz="1500" u="none" cap="none" strike="noStrike">
                <a:solidFill>
                  <a:srgbClr val="334155"/>
                </a:solidFill>
                <a:latin typeface="Vazirmatn"/>
                <a:ea typeface="Vazirmatn"/>
                <a:cs typeface="Vazirmatn"/>
                <a:sym typeface="Vazirmatn"/>
              </a:rPr>
              <a:t> "به مقدار اولیه‌ای که به متغیر `fact` داده‌ای دقت کن. چه اتفاقی می‌افتد وقتی هر عددی در صفر ضرب شود؟"</a:t>
            </a:r>
            <a:endParaRPr/>
          </a:p>
        </p:txBody>
      </p:sp>
      <p:sp>
        <p:nvSpPr>
          <p:cNvPr id="209" name="Google Shape;209;p22"/>
          <p:cNvSpPr txBox="1"/>
          <p:nvPr/>
        </p:nvSpPr>
        <p:spPr>
          <a:xfrm>
            <a:off x="317175" y="3607950"/>
            <a:ext cx="6550800" cy="2366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US" sz="1350">
                <a:solidFill>
                  <a:srgbClr val="C586C0"/>
                </a:solidFill>
                <a:highlight>
                  <a:srgbClr val="1F1F1F"/>
                </a:highlight>
                <a:latin typeface="Courier New"/>
                <a:ea typeface="Courier New"/>
                <a:cs typeface="Courier New"/>
                <a:sym typeface="Courier New"/>
              </a:rPr>
              <a:t>#include</a:t>
            </a:r>
            <a:r>
              <a:rPr lang="en-US" sz="1350">
                <a:solidFill>
                  <a:srgbClr val="569CD6"/>
                </a:solidFill>
                <a:highlight>
                  <a:srgbClr val="1F1F1F"/>
                </a:highlight>
                <a:latin typeface="Courier New"/>
                <a:ea typeface="Courier New"/>
                <a:cs typeface="Courier New"/>
                <a:sym typeface="Courier New"/>
              </a:rPr>
              <a:t> </a:t>
            </a:r>
            <a:r>
              <a:rPr lang="en-US" sz="1350">
                <a:solidFill>
                  <a:srgbClr val="CE9178"/>
                </a:solidFill>
                <a:highlight>
                  <a:srgbClr val="1F1F1F"/>
                </a:highlight>
                <a:latin typeface="Courier New"/>
                <a:ea typeface="Courier New"/>
                <a:cs typeface="Courier New"/>
                <a:sym typeface="Courier New"/>
              </a:rPr>
              <a:t>&lt;stdio.h&gt;</a:t>
            </a:r>
            <a:endParaRPr sz="1350">
              <a:solidFill>
                <a:srgbClr val="CE9178"/>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569CD6"/>
                </a:solidFill>
                <a:highlight>
                  <a:srgbClr val="1F1F1F"/>
                </a:highlight>
                <a:latin typeface="Courier New"/>
                <a:ea typeface="Courier New"/>
                <a:cs typeface="Courier New"/>
                <a:sym typeface="Courier New"/>
              </a:rPr>
              <a:t>int</a:t>
            </a:r>
            <a:r>
              <a:rPr lang="en-US" sz="1350">
                <a:solidFill>
                  <a:srgbClr val="CCCCCC"/>
                </a:solidFill>
                <a:highlight>
                  <a:srgbClr val="1F1F1F"/>
                </a:highlight>
                <a:latin typeface="Courier New"/>
                <a:ea typeface="Courier New"/>
                <a:cs typeface="Courier New"/>
                <a:sym typeface="Courier New"/>
              </a:rPr>
              <a:t> </a:t>
            </a:r>
            <a:r>
              <a:rPr lang="en-US" sz="1350">
                <a:solidFill>
                  <a:srgbClr val="DCDCAA"/>
                </a:solidFill>
                <a:highlight>
                  <a:srgbClr val="1F1F1F"/>
                </a:highlight>
                <a:latin typeface="Courier New"/>
                <a:ea typeface="Courier New"/>
                <a:cs typeface="Courier New"/>
                <a:sym typeface="Courier New"/>
              </a:rPr>
              <a:t>main</a:t>
            </a: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CCCCCC"/>
                </a:solidFill>
                <a:highlight>
                  <a:srgbClr val="1F1F1F"/>
                </a:highlight>
                <a:latin typeface="Courier New"/>
                <a:ea typeface="Courier New"/>
                <a:cs typeface="Courier New"/>
                <a:sym typeface="Courier New"/>
              </a:rPr>
              <a:t>  </a:t>
            </a:r>
            <a:r>
              <a:rPr lang="en-US" sz="1350">
                <a:solidFill>
                  <a:srgbClr val="569CD6"/>
                </a:solidFill>
                <a:highlight>
                  <a:srgbClr val="1F1F1F"/>
                </a:highlight>
                <a:latin typeface="Courier New"/>
                <a:ea typeface="Courier New"/>
                <a:cs typeface="Courier New"/>
                <a:sym typeface="Courier New"/>
              </a:rPr>
              <a:t>int</a:t>
            </a: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i</a:t>
            </a:r>
            <a:r>
              <a:rPr lang="en-US" sz="1350">
                <a:solidFill>
                  <a:srgbClr val="CCCCCC"/>
                </a:solidFill>
                <a:highlight>
                  <a:srgbClr val="1F1F1F"/>
                </a:highlight>
                <a:latin typeface="Courier New"/>
                <a:ea typeface="Courier New"/>
                <a:cs typeface="Courier New"/>
                <a:sym typeface="Courier New"/>
              </a:rPr>
              <a:t> </a:t>
            </a:r>
            <a:r>
              <a:rPr lang="en-US" sz="1350">
                <a:solidFill>
                  <a:srgbClr val="D4D4D4"/>
                </a:solidFill>
                <a:highlight>
                  <a:srgbClr val="1F1F1F"/>
                </a:highlight>
                <a:latin typeface="Courier New"/>
                <a:ea typeface="Courier New"/>
                <a:cs typeface="Courier New"/>
                <a:sym typeface="Courier New"/>
              </a:rPr>
              <a:t>=</a:t>
            </a:r>
            <a:r>
              <a:rPr lang="en-US" sz="1350">
                <a:solidFill>
                  <a:srgbClr val="CCCCCC"/>
                </a:solidFill>
                <a:highlight>
                  <a:srgbClr val="1F1F1F"/>
                </a:highlight>
                <a:latin typeface="Courier New"/>
                <a:ea typeface="Courier New"/>
                <a:cs typeface="Courier New"/>
                <a:sym typeface="Courier New"/>
              </a:rPr>
              <a:t> </a:t>
            </a:r>
            <a:r>
              <a:rPr lang="en-US" sz="1350">
                <a:solidFill>
                  <a:srgbClr val="B5CEA8"/>
                </a:solidFill>
                <a:highlight>
                  <a:srgbClr val="1F1F1F"/>
                </a:highlight>
                <a:latin typeface="Courier New"/>
                <a:ea typeface="Courier New"/>
                <a:cs typeface="Courier New"/>
                <a:sym typeface="Courier New"/>
              </a:rPr>
              <a:t>1</a:t>
            </a: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fact</a:t>
            </a:r>
            <a:r>
              <a:rPr lang="en-US" sz="1350">
                <a:solidFill>
                  <a:srgbClr val="CCCCCC"/>
                </a:solidFill>
                <a:highlight>
                  <a:srgbClr val="1F1F1F"/>
                </a:highlight>
                <a:latin typeface="Courier New"/>
                <a:ea typeface="Courier New"/>
                <a:cs typeface="Courier New"/>
                <a:sym typeface="Courier New"/>
              </a:rPr>
              <a:t> </a:t>
            </a:r>
            <a:r>
              <a:rPr lang="en-US" sz="1350">
                <a:solidFill>
                  <a:srgbClr val="D4D4D4"/>
                </a:solidFill>
                <a:highlight>
                  <a:srgbClr val="1F1F1F"/>
                </a:highlight>
                <a:latin typeface="Courier New"/>
                <a:ea typeface="Courier New"/>
                <a:cs typeface="Courier New"/>
                <a:sym typeface="Courier New"/>
              </a:rPr>
              <a:t>=</a:t>
            </a:r>
            <a:r>
              <a:rPr lang="en-US" sz="1350">
                <a:solidFill>
                  <a:srgbClr val="CCCCCC"/>
                </a:solidFill>
                <a:highlight>
                  <a:srgbClr val="1F1F1F"/>
                </a:highlight>
                <a:latin typeface="Courier New"/>
                <a:ea typeface="Courier New"/>
                <a:cs typeface="Courier New"/>
                <a:sym typeface="Courier New"/>
              </a:rPr>
              <a:t> </a:t>
            </a:r>
            <a:r>
              <a:rPr lang="en-US" sz="1350">
                <a:solidFill>
                  <a:srgbClr val="B5CEA8"/>
                </a:solidFill>
                <a:highlight>
                  <a:srgbClr val="1F1F1F"/>
                </a:highlight>
                <a:latin typeface="Courier New"/>
                <a:ea typeface="Courier New"/>
                <a:cs typeface="Courier New"/>
                <a:sym typeface="Courier New"/>
              </a:rPr>
              <a:t>0</a:t>
            </a: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CCCCCC"/>
                </a:solidFill>
                <a:highlight>
                  <a:srgbClr val="1F1F1F"/>
                </a:highlight>
                <a:latin typeface="Courier New"/>
                <a:ea typeface="Courier New"/>
                <a:cs typeface="Courier New"/>
                <a:sym typeface="Courier New"/>
              </a:rPr>
              <a:t>  </a:t>
            </a:r>
            <a:r>
              <a:rPr lang="en-US" sz="1350">
                <a:solidFill>
                  <a:srgbClr val="C586C0"/>
                </a:solidFill>
                <a:highlight>
                  <a:srgbClr val="1F1F1F"/>
                </a:highlight>
                <a:latin typeface="Courier New"/>
                <a:ea typeface="Courier New"/>
                <a:cs typeface="Courier New"/>
                <a:sym typeface="Courier New"/>
              </a:rPr>
              <a:t>while</a:t>
            </a: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i</a:t>
            </a:r>
            <a:r>
              <a:rPr lang="en-US" sz="1350">
                <a:solidFill>
                  <a:srgbClr val="CCCCCC"/>
                </a:solidFill>
                <a:highlight>
                  <a:srgbClr val="1F1F1F"/>
                </a:highlight>
                <a:latin typeface="Courier New"/>
                <a:ea typeface="Courier New"/>
                <a:cs typeface="Courier New"/>
                <a:sym typeface="Courier New"/>
              </a:rPr>
              <a:t> </a:t>
            </a:r>
            <a:r>
              <a:rPr lang="en-US" sz="1350">
                <a:solidFill>
                  <a:srgbClr val="D4D4D4"/>
                </a:solidFill>
                <a:highlight>
                  <a:srgbClr val="1F1F1F"/>
                </a:highlight>
                <a:latin typeface="Courier New"/>
                <a:ea typeface="Courier New"/>
                <a:cs typeface="Courier New"/>
                <a:sym typeface="Courier New"/>
              </a:rPr>
              <a:t>&lt;=</a:t>
            </a:r>
            <a:r>
              <a:rPr lang="en-US" sz="1350">
                <a:solidFill>
                  <a:srgbClr val="CCCCCC"/>
                </a:solidFill>
                <a:highlight>
                  <a:srgbClr val="1F1F1F"/>
                </a:highlight>
                <a:latin typeface="Courier New"/>
                <a:ea typeface="Courier New"/>
                <a:cs typeface="Courier New"/>
                <a:sym typeface="Courier New"/>
              </a:rPr>
              <a:t> </a:t>
            </a:r>
            <a:r>
              <a:rPr lang="en-US" sz="1350">
                <a:solidFill>
                  <a:srgbClr val="B5CEA8"/>
                </a:solidFill>
                <a:highlight>
                  <a:srgbClr val="1F1F1F"/>
                </a:highlight>
                <a:latin typeface="Courier New"/>
                <a:ea typeface="Courier New"/>
                <a:cs typeface="Courier New"/>
                <a:sym typeface="Courier New"/>
              </a:rPr>
              <a:t>5</a:t>
            </a: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fact</a:t>
            </a:r>
            <a:r>
              <a:rPr lang="en-US" sz="1350">
                <a:solidFill>
                  <a:srgbClr val="CCCCCC"/>
                </a:solidFill>
                <a:highlight>
                  <a:srgbClr val="1F1F1F"/>
                </a:highlight>
                <a:latin typeface="Courier New"/>
                <a:ea typeface="Courier New"/>
                <a:cs typeface="Courier New"/>
                <a:sym typeface="Courier New"/>
              </a:rPr>
              <a:t> </a:t>
            </a:r>
            <a:r>
              <a:rPr lang="en-US" sz="1350">
                <a:solidFill>
                  <a:srgbClr val="D4D4D4"/>
                </a:solidFill>
                <a:highlight>
                  <a:srgbClr val="1F1F1F"/>
                </a:highlight>
                <a:latin typeface="Courier New"/>
                <a:ea typeface="Courier New"/>
                <a:cs typeface="Courier New"/>
                <a:sym typeface="Courier New"/>
              </a:rPr>
              <a:t>*=</a:t>
            </a: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i</a:t>
            </a:r>
            <a:r>
              <a:rPr lang="en-US" sz="1350">
                <a:solidFill>
                  <a:srgbClr val="D4D4D4"/>
                </a:solidFill>
                <a:highlight>
                  <a:srgbClr val="1F1F1F"/>
                </a:highlight>
                <a:latin typeface="Courier New"/>
                <a:ea typeface="Courier New"/>
                <a:cs typeface="Courier New"/>
                <a:sym typeface="Courier New"/>
              </a:rPr>
              <a:t>++</a:t>
            </a: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US" sz="1350">
                <a:solidFill>
                  <a:srgbClr val="CCCCCC"/>
                </a:solidFill>
                <a:highlight>
                  <a:srgbClr val="1F1F1F"/>
                </a:highlight>
                <a:latin typeface="Courier New"/>
                <a:ea typeface="Courier New"/>
                <a:cs typeface="Courier New"/>
                <a:sym typeface="Courier New"/>
              </a:rPr>
              <a:t>  </a:t>
            </a:r>
            <a:r>
              <a:rPr lang="en-US" sz="1350">
                <a:solidFill>
                  <a:srgbClr val="DCDCAA"/>
                </a:solidFill>
                <a:highlight>
                  <a:srgbClr val="1F1F1F"/>
                </a:highlight>
                <a:latin typeface="Courier New"/>
                <a:ea typeface="Courier New"/>
                <a:cs typeface="Courier New"/>
                <a:sym typeface="Courier New"/>
              </a:rPr>
              <a:t>printf</a:t>
            </a:r>
            <a:r>
              <a:rPr lang="en-US" sz="1350">
                <a:solidFill>
                  <a:srgbClr val="CCCCCC"/>
                </a:solidFill>
                <a:highlight>
                  <a:srgbClr val="1F1F1F"/>
                </a:highlight>
                <a:latin typeface="Courier New"/>
                <a:ea typeface="Courier New"/>
                <a:cs typeface="Courier New"/>
                <a:sym typeface="Courier New"/>
              </a:rPr>
              <a:t>(</a:t>
            </a:r>
            <a:r>
              <a:rPr lang="en-US" sz="1350">
                <a:solidFill>
                  <a:srgbClr val="CE9178"/>
                </a:solidFill>
                <a:highlight>
                  <a:srgbClr val="1F1F1F"/>
                </a:highlight>
                <a:latin typeface="Courier New"/>
                <a:ea typeface="Courier New"/>
                <a:cs typeface="Courier New"/>
                <a:sym typeface="Courier New"/>
              </a:rPr>
              <a:t>"</a:t>
            </a:r>
            <a:r>
              <a:rPr lang="en-US" sz="1350">
                <a:solidFill>
                  <a:srgbClr val="9CDCFE"/>
                </a:solidFill>
                <a:highlight>
                  <a:srgbClr val="1F1F1F"/>
                </a:highlight>
                <a:latin typeface="Courier New"/>
                <a:ea typeface="Courier New"/>
                <a:cs typeface="Courier New"/>
                <a:sym typeface="Courier New"/>
              </a:rPr>
              <a:t>%d</a:t>
            </a:r>
            <a:r>
              <a:rPr lang="en-US" sz="1350">
                <a:solidFill>
                  <a:srgbClr val="D7BA7D"/>
                </a:solidFill>
                <a:highlight>
                  <a:srgbClr val="1F1F1F"/>
                </a:highlight>
                <a:latin typeface="Courier New"/>
                <a:ea typeface="Courier New"/>
                <a:cs typeface="Courier New"/>
                <a:sym typeface="Courier New"/>
              </a:rPr>
              <a:t>\n</a:t>
            </a:r>
            <a:r>
              <a:rPr lang="en-US" sz="1350">
                <a:solidFill>
                  <a:srgbClr val="CE9178"/>
                </a:solidFill>
                <a:highlight>
                  <a:srgbClr val="1F1F1F"/>
                </a:highlight>
                <a:latin typeface="Courier New"/>
                <a:ea typeface="Courier New"/>
                <a:cs typeface="Courier New"/>
                <a:sym typeface="Courier New"/>
              </a:rPr>
              <a:t>"</a:t>
            </a:r>
            <a:r>
              <a:rPr lang="en-US" sz="1350">
                <a:solidFill>
                  <a:srgbClr val="CCCCCC"/>
                </a:solidFill>
                <a:highlight>
                  <a:srgbClr val="1F1F1F"/>
                </a:highlight>
                <a:latin typeface="Courier New"/>
                <a:ea typeface="Courier New"/>
                <a:cs typeface="Courier New"/>
                <a:sym typeface="Courier New"/>
              </a:rPr>
              <a:t>, </a:t>
            </a:r>
            <a:r>
              <a:rPr lang="en-US" sz="1350">
                <a:solidFill>
                  <a:srgbClr val="9CDCFE"/>
                </a:solidFill>
                <a:highlight>
                  <a:srgbClr val="1F1F1F"/>
                </a:highlight>
                <a:latin typeface="Courier New"/>
                <a:ea typeface="Courier New"/>
                <a:cs typeface="Courier New"/>
                <a:sym typeface="Courier New"/>
              </a:rPr>
              <a:t>fact</a:t>
            </a:r>
            <a:r>
              <a:rPr lang="en-US" sz="1350">
                <a:solidFill>
                  <a:srgbClr val="CCCCCC"/>
                </a:solidFill>
                <a:highlight>
                  <a:srgbClr val="1F1F1F"/>
                </a:highlight>
                <a:latin typeface="Courier New"/>
                <a:ea typeface="Courier New"/>
                <a:cs typeface="Courier New"/>
                <a:sym typeface="Courier New"/>
              </a:rPr>
              <a:t>);</a:t>
            </a:r>
            <a:endParaRPr sz="1350">
              <a:solidFill>
                <a:srgbClr val="CCCCCC"/>
              </a:solidFill>
              <a:highlight>
                <a:srgbClr val="1F1F1F"/>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US" sz="1350">
                <a:solidFill>
                  <a:srgbClr val="CCCCCC"/>
                </a:solidFill>
                <a:highlight>
                  <a:srgbClr val="1F1F1F"/>
                </a:highlight>
                <a:latin typeface="Courier New"/>
                <a:ea typeface="Courier New"/>
                <a:cs typeface="Courier New"/>
                <a:sym typeface="Courier New"/>
              </a:rPr>
              <a:t>}</a:t>
            </a:r>
            <a:endParaRPr sz="1350">
              <a:solidFill>
                <a:srgbClr val="C586C0"/>
              </a:solidFill>
              <a:highlight>
                <a:srgbClr val="1F1F1F"/>
              </a:highlight>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nvSpPr>
        <p:spPr>
          <a:xfrm>
            <a:off x="3697775" y="568300"/>
            <a:ext cx="6337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15" name="Google Shape;215;p23"/>
          <p:cNvSpPr txBox="1"/>
          <p:nvPr/>
        </p:nvSpPr>
        <p:spPr>
          <a:xfrm>
            <a:off x="815050" y="1571225"/>
            <a:ext cx="10179300" cy="38880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3500">
                <a:solidFill>
                  <a:schemeClr val="dk1"/>
                </a:solidFill>
                <a:latin typeface="Vazirmatn"/>
                <a:ea typeface="Vazirmatn"/>
                <a:cs typeface="Vazirmatn"/>
                <a:sym typeface="Vazirmatn"/>
              </a:rPr>
              <a:t>دو اصل کلیدی مهندسی پرامپت</a:t>
            </a:r>
            <a:endParaRPr b="1" sz="3500">
              <a:solidFill>
                <a:schemeClr val="dk1"/>
              </a:solidFill>
              <a:latin typeface="Vazirmatn"/>
              <a:ea typeface="Vazirmatn"/>
              <a:cs typeface="Vazirmatn"/>
              <a:sym typeface="Vazirmatn"/>
            </a:endParaRPr>
          </a:p>
          <a:p>
            <a:pPr indent="-228600" lvl="0" marL="457200" rtl="1" algn="r">
              <a:lnSpc>
                <a:spcPct val="115000"/>
              </a:lnSpc>
              <a:spcBef>
                <a:spcPts val="0"/>
              </a:spcBef>
              <a:spcAft>
                <a:spcPts val="0"/>
              </a:spcAft>
              <a:buClr>
                <a:srgbClr val="1F2937"/>
              </a:buClr>
              <a:buSzPts val="1100"/>
              <a:buFont typeface="Vazirmatn"/>
              <a:buNone/>
            </a:pPr>
            <a:r>
              <a:rPr b="1" lang="en-US" sz="3100">
                <a:solidFill>
                  <a:srgbClr val="4338CA"/>
                </a:solidFill>
                <a:latin typeface="Vazirmatn"/>
                <a:ea typeface="Vazirmatn"/>
                <a:cs typeface="Vazirmatn"/>
                <a:sym typeface="Vazirmatn"/>
              </a:rPr>
              <a:t>اصل ۱: دستورالعمل‌های واضح و مشخص بنویسید.</a:t>
            </a:r>
            <a:br>
              <a:rPr b="1" lang="en-US" sz="3100">
                <a:solidFill>
                  <a:srgbClr val="4338CA"/>
                </a:solidFill>
                <a:latin typeface="Vazirmatn"/>
                <a:ea typeface="Vazirmatn"/>
                <a:cs typeface="Vazirmatn"/>
                <a:sym typeface="Vazirmatn"/>
              </a:rPr>
            </a:br>
            <a:r>
              <a:rPr lang="en-US" sz="2900">
                <a:solidFill>
                  <a:srgbClr val="1F2937"/>
                </a:solidFill>
                <a:latin typeface="Vazirmatn"/>
                <a:ea typeface="Vazirmatn"/>
                <a:cs typeface="Vazirmatn"/>
                <a:sym typeface="Vazirmatn"/>
              </a:rPr>
              <a:t>مدل نمی‌تواند ذهن شما را بخواند. هرچه دقیق‌تر و خاص‌تر درخواست کنید، احتمال گرفتن خروجی دلخواه بیشتر است.</a:t>
            </a:r>
            <a:endParaRPr sz="2900">
              <a:solidFill>
                <a:srgbClr val="1F2937"/>
              </a:solidFill>
              <a:latin typeface="Vazirmatn"/>
              <a:ea typeface="Vazirmatn"/>
              <a:cs typeface="Vazirmatn"/>
              <a:sym typeface="Vazirmatn"/>
            </a:endParaRPr>
          </a:p>
          <a:p>
            <a:pPr indent="-228600" lvl="0" marL="457200" rtl="1" algn="r">
              <a:lnSpc>
                <a:spcPct val="115000"/>
              </a:lnSpc>
              <a:spcBef>
                <a:spcPts val="0"/>
              </a:spcBef>
              <a:spcAft>
                <a:spcPts val="0"/>
              </a:spcAft>
              <a:buClr>
                <a:srgbClr val="1F2937"/>
              </a:buClr>
              <a:buSzPts val="1100"/>
              <a:buFont typeface="Vazirmatn"/>
              <a:buNone/>
            </a:pPr>
            <a:r>
              <a:rPr b="1" lang="en-US" sz="3100">
                <a:solidFill>
                  <a:srgbClr val="4338CA"/>
                </a:solidFill>
                <a:latin typeface="Vazirmatn"/>
                <a:ea typeface="Vazirmatn"/>
                <a:cs typeface="Vazirmatn"/>
                <a:sym typeface="Vazirmatn"/>
              </a:rPr>
              <a:t>اصل ۲: به مدل فرصت "تفکر" بدهید.</a:t>
            </a:r>
            <a:br>
              <a:rPr b="1" lang="en-US" sz="3100">
                <a:solidFill>
                  <a:srgbClr val="4338CA"/>
                </a:solidFill>
                <a:latin typeface="Vazirmatn"/>
                <a:ea typeface="Vazirmatn"/>
                <a:cs typeface="Vazirmatn"/>
                <a:sym typeface="Vazirmatn"/>
              </a:rPr>
            </a:br>
            <a:r>
              <a:rPr lang="en-US" sz="2900">
                <a:solidFill>
                  <a:srgbClr val="1F2937"/>
                </a:solidFill>
                <a:latin typeface="Vazirmatn"/>
                <a:ea typeface="Vazirmatn"/>
                <a:cs typeface="Vazirmatn"/>
                <a:sym typeface="Vazirmatn"/>
              </a:rPr>
              <a:t>درخواست نکنید که فوراً نتیجه نهایی را بدهد. فرآیند تفکر و مراحل را برای مدل توضیح دهید تا بتواند گام به گام به پاسخ برسد.</a:t>
            </a:r>
            <a:endParaRPr sz="2900">
              <a:solidFill>
                <a:srgbClr val="1F2937"/>
              </a:solidFill>
              <a:latin typeface="Vazirmatn"/>
              <a:ea typeface="Vazirmatn"/>
              <a:cs typeface="Vazirmatn"/>
              <a:sym typeface="Vazirmat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4"/>
          <p:cNvSpPr txBox="1"/>
          <p:nvPr/>
        </p:nvSpPr>
        <p:spPr>
          <a:xfrm>
            <a:off x="374075" y="691475"/>
            <a:ext cx="11300400" cy="56943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2600">
                <a:solidFill>
                  <a:schemeClr val="dk1"/>
                </a:solidFill>
                <a:latin typeface="Vazirmatn"/>
                <a:ea typeface="Vazirmatn"/>
                <a:cs typeface="Vazirmatn"/>
                <a:sym typeface="Vazirmatn"/>
              </a:rPr>
              <a:t>تاکتیک‌های اصل ۱: دستورالعمل‌های واضح‌تر</a:t>
            </a:r>
            <a:endParaRPr b="1" sz="2600">
              <a:solidFill>
                <a:schemeClr val="dk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200">
                <a:solidFill>
                  <a:srgbClr val="4F46E5"/>
                </a:solidFill>
                <a:latin typeface="Vazirmatn"/>
                <a:ea typeface="Vazirmatn"/>
                <a:cs typeface="Vazirmatn"/>
                <a:sym typeface="Vazirmatn"/>
              </a:rPr>
              <a:t>استفاده از جداکننده‌ها (Delimiters)</a:t>
            </a:r>
            <a:br>
              <a:rPr b="1" lang="en-US" sz="2200">
                <a:solidFill>
                  <a:srgbClr val="4F46E5"/>
                </a:solidFill>
                <a:latin typeface="Vazirmatn"/>
                <a:ea typeface="Vazirmatn"/>
                <a:cs typeface="Vazirmatn"/>
                <a:sym typeface="Vazirmatn"/>
              </a:rPr>
            </a:br>
            <a:r>
              <a:rPr lang="en-US" sz="2000">
                <a:solidFill>
                  <a:srgbClr val="374151"/>
                </a:solidFill>
                <a:latin typeface="Vazirmatn"/>
                <a:ea typeface="Vazirmatn"/>
                <a:cs typeface="Vazirmatn"/>
                <a:sym typeface="Vazirmatn"/>
              </a:rPr>
              <a:t>از کاراکترهایی مانند </a:t>
            </a:r>
            <a:r>
              <a:rPr lang="en-US" sz="2000">
                <a:solidFill>
                  <a:srgbClr val="374151"/>
                </a:solidFill>
                <a:highlight>
                  <a:srgbClr val="F3F4F6"/>
                </a:highlight>
                <a:latin typeface="Courier New"/>
                <a:ea typeface="Courier New"/>
                <a:cs typeface="Courier New"/>
                <a:sym typeface="Courier New"/>
              </a:rPr>
              <a:t>```</a:t>
            </a:r>
            <a:r>
              <a:rPr lang="en-US" sz="2000">
                <a:solidFill>
                  <a:srgbClr val="374151"/>
                </a:solidFill>
                <a:latin typeface="Vazirmatn"/>
                <a:ea typeface="Vazirmatn"/>
                <a:cs typeface="Vazirmatn"/>
                <a:sym typeface="Vazirmatn"/>
              </a:rPr>
              <a:t>، </a:t>
            </a:r>
            <a:r>
              <a:rPr lang="en-US" sz="2000">
                <a:solidFill>
                  <a:srgbClr val="374151"/>
                </a:solidFill>
                <a:highlight>
                  <a:srgbClr val="F3F4F6"/>
                </a:highlight>
                <a:latin typeface="Courier New"/>
                <a:ea typeface="Courier New"/>
                <a:cs typeface="Courier New"/>
                <a:sym typeface="Courier New"/>
              </a:rPr>
              <a:t>"""</a:t>
            </a:r>
            <a:r>
              <a:rPr lang="en-US" sz="2000">
                <a:solidFill>
                  <a:srgbClr val="374151"/>
                </a:solidFill>
                <a:latin typeface="Vazirmatn"/>
                <a:ea typeface="Vazirmatn"/>
                <a:cs typeface="Vazirmatn"/>
                <a:sym typeface="Vazirmatn"/>
              </a:rPr>
              <a:t>، </a:t>
            </a:r>
            <a:r>
              <a:rPr lang="en-US" sz="2000">
                <a:solidFill>
                  <a:srgbClr val="374151"/>
                </a:solidFill>
                <a:highlight>
                  <a:srgbClr val="F3F4F6"/>
                </a:highlight>
                <a:latin typeface="Courier New"/>
                <a:ea typeface="Courier New"/>
                <a:cs typeface="Courier New"/>
                <a:sym typeface="Courier New"/>
              </a:rPr>
              <a:t>&lt;&gt;</a:t>
            </a:r>
            <a:r>
              <a:rPr lang="en-US" sz="2000">
                <a:solidFill>
                  <a:srgbClr val="374151"/>
                </a:solidFill>
                <a:latin typeface="Vazirmatn"/>
                <a:ea typeface="Vazirmatn"/>
                <a:cs typeface="Vazirmatn"/>
                <a:sym typeface="Vazirmatn"/>
              </a:rPr>
              <a:t> یا تگ‌ها برای جدا کردن بخش‌های مختلف پرامپت (مانند متن ورودی از دستورالعمل) استفاده کنید.</a:t>
            </a:r>
            <a:endParaRPr sz="20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200">
                <a:solidFill>
                  <a:srgbClr val="4F46E5"/>
                </a:solidFill>
                <a:latin typeface="Vazirmatn"/>
                <a:ea typeface="Vazirmatn"/>
                <a:cs typeface="Vazirmatn"/>
                <a:sym typeface="Vazirmatn"/>
              </a:rPr>
              <a:t>درخواست خروجی ساختاریافته</a:t>
            </a:r>
            <a:br>
              <a:rPr b="1" lang="en-US" sz="2200">
                <a:solidFill>
                  <a:srgbClr val="4F46E5"/>
                </a:solidFill>
                <a:latin typeface="Vazirmatn"/>
                <a:ea typeface="Vazirmatn"/>
                <a:cs typeface="Vazirmatn"/>
                <a:sym typeface="Vazirmatn"/>
              </a:rPr>
            </a:br>
            <a:r>
              <a:rPr lang="en-US" sz="2000">
                <a:solidFill>
                  <a:srgbClr val="374151"/>
                </a:solidFill>
                <a:latin typeface="Vazirmatn"/>
                <a:ea typeface="Vazirmatn"/>
                <a:cs typeface="Vazirmatn"/>
                <a:sym typeface="Vazirmatn"/>
              </a:rPr>
              <a:t>با تعیین فرمت خروجی (مانند لاتک، JSON، HTML یا لیست‌های Markdown) پردازش پاسخ توسط سیستم‌های بعدی را آسان کنید.</a:t>
            </a:r>
            <a:endParaRPr sz="20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2000"/>
              <a:buFont typeface="Vazirmatn"/>
              <a:buNone/>
            </a:pPr>
            <a:r>
              <a:rPr lang="en-US" sz="2100">
                <a:solidFill>
                  <a:schemeClr val="dk1"/>
                </a:solidFill>
                <a:latin typeface="Vazirmatn"/>
                <a:ea typeface="Vazirmatn"/>
                <a:cs typeface="Vazirmatn"/>
                <a:sym typeface="Vazirmatn"/>
              </a:rPr>
              <a:t>کپی پرامپت</a:t>
            </a:r>
            <a:endParaRPr sz="2100">
              <a:solidFill>
                <a:schemeClr val="dk1"/>
              </a:solidFill>
              <a:latin typeface="Vazirmatn"/>
              <a:ea typeface="Vazirmatn"/>
              <a:cs typeface="Vazirmatn"/>
              <a:sym typeface="Vazirmatn"/>
            </a:endParaRPr>
          </a:p>
          <a:p>
            <a:pPr indent="0" lvl="0" marL="0" rtl="1" algn="r">
              <a:spcBef>
                <a:spcPts val="0"/>
              </a:spcBef>
              <a:spcAft>
                <a:spcPts val="0"/>
              </a:spcAft>
              <a:buNone/>
            </a:pPr>
            <a:r>
              <a:t/>
            </a:r>
            <a:endParaRPr sz="2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US" sz="2000">
                <a:solidFill>
                  <a:schemeClr val="dk1"/>
                </a:solidFill>
                <a:latin typeface="Courier New"/>
                <a:ea typeface="Courier New"/>
                <a:cs typeface="Courier New"/>
                <a:sym typeface="Courier New"/>
              </a:rPr>
              <a:t>"Write a list of three points about the text, formatted as JSON with keys 'title' and 'summary'."</a:t>
            </a:r>
            <a:endParaRPr sz="2000">
              <a:solidFill>
                <a:schemeClr val="dk1"/>
              </a:solidFill>
              <a:latin typeface="Courier New"/>
              <a:ea typeface="Courier New"/>
              <a:cs typeface="Courier New"/>
              <a:sym typeface="Courier New"/>
            </a:endParaRPr>
          </a:p>
          <a:p>
            <a:pPr indent="-228600" lvl="0" marL="457200" rtl="1" algn="r">
              <a:lnSpc>
                <a:spcPct val="115000"/>
              </a:lnSpc>
              <a:spcBef>
                <a:spcPts val="1200"/>
              </a:spcBef>
              <a:spcAft>
                <a:spcPts val="0"/>
              </a:spcAft>
              <a:buClr>
                <a:schemeClr val="dk1"/>
              </a:buClr>
              <a:buSzPts val="2000"/>
              <a:buFont typeface="Vazirmatn"/>
              <a:buNone/>
            </a:pPr>
            <a:r>
              <a:rPr lang="en-US" sz="2000">
                <a:solidFill>
                  <a:schemeClr val="dk1"/>
                </a:solidFill>
                <a:latin typeface="Courier New"/>
                <a:ea typeface="Courier New"/>
                <a:cs typeface="Courier New"/>
                <a:sym typeface="Courier New"/>
              </a:rPr>
              <a:t>                           </a:t>
            </a:r>
            <a:endParaRPr sz="2000">
              <a:solidFill>
                <a:schemeClr val="dk1"/>
              </a:solidFill>
              <a:latin typeface="Courier New"/>
              <a:ea typeface="Courier New"/>
              <a:cs typeface="Courier New"/>
              <a:sym typeface="Courier New"/>
            </a:endParaRPr>
          </a:p>
          <a:p>
            <a:pPr indent="-228600" lvl="0" marL="457200" rtl="1" algn="r">
              <a:lnSpc>
                <a:spcPct val="115000"/>
              </a:lnSpc>
              <a:spcBef>
                <a:spcPts val="0"/>
              </a:spcBef>
              <a:spcAft>
                <a:spcPts val="0"/>
              </a:spcAft>
              <a:buClr>
                <a:schemeClr val="dk1"/>
              </a:buClr>
              <a:buSzPts val="1100"/>
              <a:buFont typeface="Vazirmatn"/>
              <a:buNone/>
            </a:pPr>
            <a:r>
              <a:rPr b="1" lang="en-US" sz="2200">
                <a:solidFill>
                  <a:srgbClr val="4F46E5"/>
                </a:solidFill>
                <a:latin typeface="Vazirmatn"/>
                <a:ea typeface="Vazirmatn"/>
                <a:cs typeface="Vazirmatn"/>
                <a:sym typeface="Vazirmatn"/>
              </a:rPr>
              <a:t>استفاده از نمونه‌های کم‌تعداد (Few-shot Prompting)</a:t>
            </a:r>
            <a:br>
              <a:rPr b="1" lang="en-US" sz="2200">
                <a:solidFill>
                  <a:srgbClr val="4F46E5"/>
                </a:solidFill>
                <a:latin typeface="Vazirmatn"/>
                <a:ea typeface="Vazirmatn"/>
                <a:cs typeface="Vazirmatn"/>
                <a:sym typeface="Vazirmatn"/>
              </a:rPr>
            </a:br>
            <a:r>
              <a:rPr lang="en-US" sz="2000">
                <a:solidFill>
                  <a:srgbClr val="374151"/>
                </a:solidFill>
                <a:latin typeface="Vazirmatn"/>
                <a:ea typeface="Vazirmatn"/>
                <a:cs typeface="Vazirmatn"/>
                <a:sym typeface="Vazirmatn"/>
              </a:rPr>
              <a:t>قبل از درخواست اصلی، چند مثال از جفت ورودی/خروجی دلخواه را به مدل نشان دهید تا سبک و قالب پاسخ را درک کند.</a:t>
            </a:r>
            <a:endParaRPr sz="2000">
              <a:solidFill>
                <a:srgbClr val="374151"/>
              </a:solidFill>
              <a:latin typeface="Vazirmatn"/>
              <a:ea typeface="Vazirmatn"/>
              <a:cs typeface="Vazirmatn"/>
              <a:sym typeface="Vazirmat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nvSpPr>
        <p:spPr>
          <a:xfrm>
            <a:off x="396750" y="1496275"/>
            <a:ext cx="11187000" cy="37164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2500">
                <a:solidFill>
                  <a:schemeClr val="dk1"/>
                </a:solidFill>
                <a:latin typeface="Vazirmatn"/>
                <a:ea typeface="Vazirmatn"/>
                <a:cs typeface="Vazirmatn"/>
                <a:sym typeface="Vazirmatn"/>
              </a:rPr>
              <a:t>تاکتیک‌های اصل ۲: فرصت "تفکر"</a:t>
            </a:r>
            <a:endParaRPr b="1" sz="2500">
              <a:solidFill>
                <a:schemeClr val="dk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100">
                <a:solidFill>
                  <a:srgbClr val="4F46E5"/>
                </a:solidFill>
                <a:latin typeface="Vazirmatn"/>
                <a:ea typeface="Vazirmatn"/>
                <a:cs typeface="Vazirmatn"/>
                <a:sym typeface="Vazirmatn"/>
              </a:rPr>
              <a:t>تعیین مراحل انجام کار</a:t>
            </a:r>
            <a:br>
              <a:rPr b="1" lang="en-US" sz="2100">
                <a:solidFill>
                  <a:srgbClr val="4F46E5"/>
                </a:solidFill>
                <a:latin typeface="Vazirmatn"/>
                <a:ea typeface="Vazirmatn"/>
                <a:cs typeface="Vazirmatn"/>
                <a:sym typeface="Vazirmatn"/>
              </a:rPr>
            </a:br>
            <a:r>
              <a:rPr lang="en-US" sz="1900">
                <a:solidFill>
                  <a:srgbClr val="374151"/>
                </a:solidFill>
                <a:latin typeface="Vazirmatn"/>
                <a:ea typeface="Vazirmatn"/>
                <a:cs typeface="Vazirmatn"/>
                <a:sym typeface="Vazirmatn"/>
              </a:rPr>
              <a:t>مدل را وادار کنید که قبل از ارائه پاسخ نهایی، یک سری از مراحل مشخص را دنبال کند (مثلاً، اول خلاصه‌ کن، بعد ترجمه کن).</a:t>
            </a:r>
            <a:endParaRPr sz="19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100">
                <a:solidFill>
                  <a:srgbClr val="4F46E5"/>
                </a:solidFill>
                <a:latin typeface="Vazirmatn"/>
                <a:ea typeface="Vazirmatn"/>
                <a:cs typeface="Vazirmatn"/>
                <a:sym typeface="Vazirmatn"/>
              </a:rPr>
              <a:t>تست فرض‌های مدل</a:t>
            </a:r>
            <a:br>
              <a:rPr b="1" lang="en-US" sz="2100">
                <a:solidFill>
                  <a:srgbClr val="4F46E5"/>
                </a:solidFill>
                <a:latin typeface="Vazirmatn"/>
                <a:ea typeface="Vazirmatn"/>
                <a:cs typeface="Vazirmatn"/>
                <a:sym typeface="Vazirmatn"/>
              </a:rPr>
            </a:br>
            <a:r>
              <a:rPr lang="en-US" sz="1900">
                <a:solidFill>
                  <a:srgbClr val="374151"/>
                </a:solidFill>
                <a:latin typeface="Vazirmatn"/>
                <a:ea typeface="Vazirmatn"/>
                <a:cs typeface="Vazirmatn"/>
                <a:sym typeface="Vazirmatn"/>
              </a:rPr>
              <a:t>اگر خروجی مدل طولانی است یا نیاز به دقت بالایی دارد، ابتدا مدل را وادار کنید که فرض‌های خود یا خلاصه‌ای از محتوای اصلی را استخراج کند تا مطمئن شوید که مسیر درستی را طی می‌کند.</a:t>
            </a:r>
            <a:endParaRPr sz="19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100">
                <a:solidFill>
                  <a:srgbClr val="4F46E5"/>
                </a:solidFill>
                <a:latin typeface="Vazirmatn"/>
                <a:ea typeface="Vazirmatn"/>
                <a:cs typeface="Vazirmatn"/>
                <a:sym typeface="Vazirmatn"/>
              </a:rPr>
              <a:t>درخواست برای استدلال قبل از نتیجه</a:t>
            </a:r>
            <a:br>
              <a:rPr b="1" lang="en-US" sz="2100">
                <a:solidFill>
                  <a:srgbClr val="4F46E5"/>
                </a:solidFill>
                <a:latin typeface="Vazirmatn"/>
                <a:ea typeface="Vazirmatn"/>
                <a:cs typeface="Vazirmatn"/>
                <a:sym typeface="Vazirmatn"/>
              </a:rPr>
            </a:br>
            <a:r>
              <a:rPr lang="en-US" sz="1900">
                <a:solidFill>
                  <a:srgbClr val="374151"/>
                </a:solidFill>
                <a:latin typeface="Vazirmatn"/>
                <a:ea typeface="Vazirmatn"/>
                <a:cs typeface="Vazirmatn"/>
                <a:sym typeface="Vazirmatn"/>
              </a:rPr>
              <a:t>از مدل بخواهید قبل از نتیجه‌گیری نهایی، استدلال خود را به صورت گام به گام بیان کند. این کار کیفیت و اعتبار پاسخ را به شدت بالا می‌برد.</a:t>
            </a:r>
            <a:endParaRPr sz="1900">
              <a:solidFill>
                <a:srgbClr val="374151"/>
              </a:solidFill>
              <a:latin typeface="Vazirmatn"/>
              <a:ea typeface="Vazirmatn"/>
              <a:cs typeface="Vazirmatn"/>
              <a:sym typeface="Vazirmat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nvSpPr>
        <p:spPr>
          <a:xfrm>
            <a:off x="649800" y="838825"/>
            <a:ext cx="10892400" cy="53802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3000">
                <a:solidFill>
                  <a:schemeClr val="dk1"/>
                </a:solidFill>
                <a:latin typeface="Vazirmatn"/>
                <a:ea typeface="Vazirmatn"/>
                <a:cs typeface="Vazirmatn"/>
                <a:sym typeface="Vazirmatn"/>
              </a:rPr>
              <a:t>توسعه تکراری پرامپت</a:t>
            </a:r>
            <a:endParaRPr b="1" sz="3000">
              <a:solidFill>
                <a:schemeClr val="dk1"/>
              </a:solidFill>
              <a:latin typeface="Vazirmatn"/>
              <a:ea typeface="Vazirmatn"/>
              <a:cs typeface="Vazirmatn"/>
              <a:sym typeface="Vazirmatn"/>
            </a:endParaRPr>
          </a:p>
          <a:p>
            <a:pPr indent="0" lvl="0" marL="0" rtl="1" algn="r">
              <a:lnSpc>
                <a:spcPct val="115000"/>
              </a:lnSpc>
              <a:spcBef>
                <a:spcPts val="0"/>
              </a:spcBef>
              <a:spcAft>
                <a:spcPts val="0"/>
              </a:spcAft>
              <a:buNone/>
            </a:pPr>
            <a:r>
              <a:rPr lang="en-US" sz="2400">
                <a:solidFill>
                  <a:srgbClr val="374151"/>
                </a:solidFill>
                <a:latin typeface="Vazirmatn"/>
                <a:ea typeface="Vazirmatn"/>
                <a:cs typeface="Vazirmatn"/>
                <a:sym typeface="Vazirmatn"/>
              </a:rPr>
              <a:t>پرامپت‌های خوب در اولین تلاش به دست نمی‌آیند. بهبود پرامپت یک فرآیند چرخه‌ای است.</a:t>
            </a:r>
            <a:endParaRPr sz="2400">
              <a:solidFill>
                <a:srgbClr val="374151"/>
              </a:solidFill>
              <a:latin typeface="Vazirmatn"/>
              <a:ea typeface="Vazirmatn"/>
              <a:cs typeface="Vazirmatn"/>
              <a:sym typeface="Vazirmatn"/>
            </a:endParaRPr>
          </a:p>
          <a:p>
            <a:pPr indent="0" lvl="0" marL="0" rtl="1" algn="r">
              <a:lnSpc>
                <a:spcPct val="115000"/>
              </a:lnSpc>
              <a:spcBef>
                <a:spcPts val="1800"/>
              </a:spcBef>
              <a:spcAft>
                <a:spcPts val="0"/>
              </a:spcAft>
              <a:buNone/>
            </a:pPr>
            <a:r>
              <a:rPr b="1" lang="en-US" sz="2600">
                <a:solidFill>
                  <a:srgbClr val="4338CA"/>
                </a:solidFill>
                <a:latin typeface="Vazirmatn"/>
                <a:ea typeface="Vazirmatn"/>
                <a:cs typeface="Vazirmatn"/>
                <a:sym typeface="Vazirmatn"/>
              </a:rPr>
              <a:t>چرخه توسعه:</a:t>
            </a:r>
            <a:endParaRPr b="1" sz="2600">
              <a:solidFill>
                <a:srgbClr val="4338CA"/>
              </a:solidFill>
              <a:latin typeface="Vazirmatn"/>
              <a:ea typeface="Vazirmatn"/>
              <a:cs typeface="Vazirmatn"/>
              <a:sym typeface="Vazirmatn"/>
            </a:endParaRPr>
          </a:p>
          <a:p>
            <a:pPr indent="-381000" lvl="0" marL="457200" rtl="1" algn="r">
              <a:lnSpc>
                <a:spcPct val="115000"/>
              </a:lnSpc>
              <a:spcBef>
                <a:spcPts val="400"/>
              </a:spcBef>
              <a:spcAft>
                <a:spcPts val="0"/>
              </a:spcAft>
              <a:buClr>
                <a:srgbClr val="1F2937"/>
              </a:buClr>
              <a:buSzPts val="2400"/>
              <a:buFont typeface="Vazirmatn"/>
              <a:buAutoNum type="arabicPeriod"/>
            </a:pPr>
            <a:r>
              <a:rPr lang="en-US" sz="2400">
                <a:solidFill>
                  <a:srgbClr val="1F2937"/>
                </a:solidFill>
                <a:highlight>
                  <a:srgbClr val="EEF2FF"/>
                </a:highlight>
                <a:latin typeface="Vazirmatn"/>
                <a:ea typeface="Vazirmatn"/>
                <a:cs typeface="Vazirmatn"/>
                <a:sym typeface="Vazirmatn"/>
              </a:rPr>
              <a:t>ایده (Idea): یک ایده اولیه برای پرامپت و هدف خروجی را تعیین کنید.</a:t>
            </a:r>
            <a:endParaRPr sz="2400">
              <a:solidFill>
                <a:srgbClr val="1F2937"/>
              </a:solidFill>
              <a:highlight>
                <a:srgbClr val="EEF2FF"/>
              </a:highlight>
              <a:latin typeface="Vazirmatn"/>
              <a:ea typeface="Vazirmatn"/>
              <a:cs typeface="Vazirmatn"/>
              <a:sym typeface="Vazirmatn"/>
            </a:endParaRPr>
          </a:p>
          <a:p>
            <a:pPr indent="-381000" lvl="0" marL="457200" rtl="1" algn="r">
              <a:lnSpc>
                <a:spcPct val="115000"/>
              </a:lnSpc>
              <a:spcBef>
                <a:spcPts val="0"/>
              </a:spcBef>
              <a:spcAft>
                <a:spcPts val="0"/>
              </a:spcAft>
              <a:buClr>
                <a:srgbClr val="1F2937"/>
              </a:buClr>
              <a:buSzPts val="2400"/>
              <a:buFont typeface="Vazirmatn"/>
              <a:buAutoNum type="arabicPeriod"/>
            </a:pPr>
            <a:r>
              <a:rPr lang="en-US" sz="2400">
                <a:solidFill>
                  <a:srgbClr val="1F2937"/>
                </a:solidFill>
                <a:highlight>
                  <a:srgbClr val="EEF2FF"/>
                </a:highlight>
                <a:latin typeface="Vazirmatn"/>
                <a:ea typeface="Vazirmatn"/>
                <a:cs typeface="Vazirmatn"/>
                <a:sym typeface="Vazirmatn"/>
              </a:rPr>
              <a:t>پیاده‌سازی (Implement): پرامپت را اجرا کرده و خروجی مدل را مشاهده کنید.</a:t>
            </a:r>
            <a:endParaRPr sz="2400">
              <a:solidFill>
                <a:srgbClr val="1F2937"/>
              </a:solidFill>
              <a:highlight>
                <a:srgbClr val="EEF2FF"/>
              </a:highlight>
              <a:latin typeface="Vazirmatn"/>
              <a:ea typeface="Vazirmatn"/>
              <a:cs typeface="Vazirmatn"/>
              <a:sym typeface="Vazirmatn"/>
            </a:endParaRPr>
          </a:p>
          <a:p>
            <a:pPr indent="-381000" lvl="0" marL="457200" rtl="1" algn="r">
              <a:lnSpc>
                <a:spcPct val="115000"/>
              </a:lnSpc>
              <a:spcBef>
                <a:spcPts val="0"/>
              </a:spcBef>
              <a:spcAft>
                <a:spcPts val="0"/>
              </a:spcAft>
              <a:buClr>
                <a:srgbClr val="1F2937"/>
              </a:buClr>
              <a:buSzPts val="2400"/>
              <a:buFont typeface="Vazirmatn"/>
              <a:buAutoNum type="arabicPeriod"/>
            </a:pPr>
            <a:r>
              <a:rPr lang="en-US" sz="2400">
                <a:solidFill>
                  <a:srgbClr val="1F2937"/>
                </a:solidFill>
                <a:highlight>
                  <a:srgbClr val="EEF2FF"/>
                </a:highlight>
                <a:latin typeface="Vazirmatn"/>
                <a:ea typeface="Vazirmatn"/>
                <a:cs typeface="Vazirmatn"/>
                <a:sym typeface="Vazirmatn"/>
              </a:rPr>
              <a:t>آزمایش (Test): خروجی را با معیار مورد نظر خود مقایسه کنید (مثلاً آیا لحن درست است؟ آیا محدودیت کلمه رعایت شده؟).</a:t>
            </a:r>
            <a:endParaRPr sz="2400">
              <a:solidFill>
                <a:srgbClr val="1F2937"/>
              </a:solidFill>
              <a:highlight>
                <a:srgbClr val="EEF2FF"/>
              </a:highlight>
              <a:latin typeface="Vazirmatn"/>
              <a:ea typeface="Vazirmatn"/>
              <a:cs typeface="Vazirmatn"/>
              <a:sym typeface="Vazirmatn"/>
            </a:endParaRPr>
          </a:p>
          <a:p>
            <a:pPr indent="-381000" lvl="0" marL="457200" rtl="1" algn="r">
              <a:lnSpc>
                <a:spcPct val="115000"/>
              </a:lnSpc>
              <a:spcBef>
                <a:spcPts val="0"/>
              </a:spcBef>
              <a:spcAft>
                <a:spcPts val="0"/>
              </a:spcAft>
              <a:buClr>
                <a:srgbClr val="1F2937"/>
              </a:buClr>
              <a:buSzPts val="2400"/>
              <a:buFont typeface="Vazirmatn"/>
              <a:buAutoNum type="arabicPeriod"/>
            </a:pPr>
            <a:r>
              <a:rPr lang="en-US" sz="2400">
                <a:solidFill>
                  <a:srgbClr val="1F2937"/>
                </a:solidFill>
                <a:highlight>
                  <a:srgbClr val="EEF2FF"/>
                </a:highlight>
                <a:latin typeface="Vazirmatn"/>
                <a:ea typeface="Vazirmatn"/>
                <a:cs typeface="Vazirmatn"/>
                <a:sym typeface="Vazirmatn"/>
              </a:rPr>
              <a:t>بهبود (Refine): در صورت عدم رضایت، پرامپت را بر اساس خطاهای مشاهده شده اصلاح کنید و چرخه را تکرار کنید.</a:t>
            </a:r>
            <a:endParaRPr sz="2400">
              <a:solidFill>
                <a:srgbClr val="1F2937"/>
              </a:solidFill>
              <a:highlight>
                <a:srgbClr val="EEF2FF"/>
              </a:highlight>
              <a:latin typeface="Vazirmatn"/>
              <a:ea typeface="Vazirmatn"/>
              <a:cs typeface="Vazirmatn"/>
              <a:sym typeface="Vazirmatn"/>
            </a:endParaRPr>
          </a:p>
          <a:p>
            <a:pPr indent="0" lvl="0" marL="0" rtl="1" algn="r">
              <a:lnSpc>
                <a:spcPct val="115000"/>
              </a:lnSpc>
              <a:spcBef>
                <a:spcPts val="1200"/>
              </a:spcBef>
              <a:spcAft>
                <a:spcPts val="0"/>
              </a:spcAft>
              <a:buNone/>
            </a:pPr>
            <a:r>
              <a:rPr lang="en-US" sz="2400">
                <a:solidFill>
                  <a:srgbClr val="6B7280"/>
                </a:solidFill>
                <a:latin typeface="Vazirmatn"/>
                <a:ea typeface="Vazirmatn"/>
                <a:cs typeface="Vazirmatn"/>
                <a:sym typeface="Vazirmatn"/>
              </a:rPr>
              <a:t>نکته کلیدی: تحلیل خروجی‌های نامطلوب به شما کمک می‌کند تا دستورالعمل‌های خود را دقیق‌تر کنید (مثلاً اگر متن خیلی طولانی است، محدودیت کلمه را اضافه کنید).</a:t>
            </a:r>
            <a:endParaRPr sz="2400">
              <a:solidFill>
                <a:srgbClr val="6B7280"/>
              </a:solidFill>
              <a:latin typeface="Vazirmatn"/>
              <a:ea typeface="Vazirmatn"/>
              <a:cs typeface="Vazirmatn"/>
              <a:sym typeface="Vazirmat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508050" y="1051350"/>
            <a:ext cx="11175900" cy="47553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2700">
                <a:solidFill>
                  <a:schemeClr val="dk1"/>
                </a:solidFill>
                <a:latin typeface="Vazirmatn"/>
                <a:ea typeface="Vazirmatn"/>
                <a:cs typeface="Vazirmatn"/>
                <a:sym typeface="Vazirmatn"/>
              </a:rPr>
              <a:t>کاربرد: خلاصه‌سازی (Summarizing)</a:t>
            </a:r>
            <a:endParaRPr b="1" sz="2700">
              <a:solidFill>
                <a:schemeClr val="dk1"/>
              </a:solidFill>
              <a:latin typeface="Vazirmatn"/>
              <a:ea typeface="Vazirmatn"/>
              <a:cs typeface="Vazirmatn"/>
              <a:sym typeface="Vazirmatn"/>
            </a:endParaRPr>
          </a:p>
          <a:p>
            <a:pPr indent="0" lvl="0" marL="0" rtl="1" algn="r">
              <a:lnSpc>
                <a:spcPct val="115000"/>
              </a:lnSpc>
              <a:spcBef>
                <a:spcPts val="0"/>
              </a:spcBef>
              <a:spcAft>
                <a:spcPts val="0"/>
              </a:spcAft>
              <a:buNone/>
            </a:pPr>
            <a:r>
              <a:rPr lang="en-US" sz="2100">
                <a:solidFill>
                  <a:srgbClr val="374151"/>
                </a:solidFill>
                <a:latin typeface="Vazirmatn"/>
                <a:ea typeface="Vazirmatn"/>
                <a:cs typeface="Vazirmatn"/>
                <a:sym typeface="Vazirmatn"/>
              </a:rPr>
              <a:t>یکی از قوی‌ترین کاربردهای LLMs، خلاصه کردن حجم زیادی از متن است.</a:t>
            </a:r>
            <a:endParaRPr sz="2100">
              <a:solidFill>
                <a:srgbClr val="374151"/>
              </a:solidFill>
              <a:latin typeface="Vazirmatn"/>
              <a:ea typeface="Vazirmatn"/>
              <a:cs typeface="Vazirmatn"/>
              <a:sym typeface="Vazirmatn"/>
            </a:endParaRPr>
          </a:p>
          <a:p>
            <a:pPr indent="0" lvl="0" marL="0" rtl="1" algn="r">
              <a:lnSpc>
                <a:spcPct val="115000"/>
              </a:lnSpc>
              <a:spcBef>
                <a:spcPts val="1800"/>
              </a:spcBef>
              <a:spcAft>
                <a:spcPts val="0"/>
              </a:spcAft>
              <a:buNone/>
            </a:pPr>
            <a:r>
              <a:rPr b="1" lang="en-US" sz="2300">
                <a:solidFill>
                  <a:srgbClr val="4338CA"/>
                </a:solidFill>
                <a:latin typeface="Vazirmatn"/>
                <a:ea typeface="Vazirmatn"/>
                <a:cs typeface="Vazirmatn"/>
                <a:sym typeface="Vazirmatn"/>
              </a:rPr>
              <a:t>تاکتیک‌ها:</a:t>
            </a:r>
            <a:endParaRPr b="1" sz="2300">
              <a:solidFill>
                <a:srgbClr val="4338CA"/>
              </a:solidFill>
              <a:latin typeface="Vazirmatn"/>
              <a:ea typeface="Vazirmatn"/>
              <a:cs typeface="Vazirmatn"/>
              <a:sym typeface="Vazirmatn"/>
            </a:endParaRPr>
          </a:p>
          <a:p>
            <a:pPr indent="-228600" lvl="0" marL="457200" rtl="1" algn="r">
              <a:lnSpc>
                <a:spcPct val="115000"/>
              </a:lnSpc>
              <a:spcBef>
                <a:spcPts val="40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کنترل طول (Length Control)</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دقیقاً مشخص کنید خلاصه چند کلمه، جمله یا پاراگراف باشد. مثال: </a:t>
            </a:r>
            <a:r>
              <a:rPr lang="en-US" sz="2100">
                <a:solidFill>
                  <a:srgbClr val="374151"/>
                </a:solidFill>
                <a:highlight>
                  <a:srgbClr val="F3F4F6"/>
                </a:highlight>
                <a:latin typeface="Courier New"/>
                <a:ea typeface="Courier New"/>
                <a:cs typeface="Courier New"/>
                <a:sym typeface="Courier New"/>
              </a:rPr>
              <a:t>"Summarize the review in at most 20 words."</a:t>
            </a:r>
            <a:endParaRPr sz="2100">
              <a:solidFill>
                <a:srgbClr val="374151"/>
              </a:solidFill>
              <a:highlight>
                <a:srgbClr val="F3F4F6"/>
              </a:highlight>
              <a:latin typeface="Courier New"/>
              <a:ea typeface="Courier New"/>
              <a:cs typeface="Courier New"/>
              <a:sym typeface="Courier New"/>
            </a:endParaRPr>
          </a:p>
          <a:p>
            <a:pPr indent="-228600" lvl="0" marL="457200" rtl="1" algn="r">
              <a:lnSpc>
                <a:spcPct val="115000"/>
              </a:lnSpc>
              <a:spcBef>
                <a:spcPts val="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تمرکز بر موضوعات خاص (Focused Summaries)</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خلاصه را به یک جنبه خاص محدود کنید. مثال: </a:t>
            </a:r>
            <a:r>
              <a:rPr lang="en-US" sz="2100">
                <a:solidFill>
                  <a:srgbClr val="374151"/>
                </a:solidFill>
                <a:highlight>
                  <a:srgbClr val="F3F4F6"/>
                </a:highlight>
                <a:latin typeface="Courier New"/>
                <a:ea typeface="Courier New"/>
                <a:cs typeface="Courier New"/>
                <a:sym typeface="Courier New"/>
              </a:rPr>
              <a:t>"Summarize the review, focusing only on the product's quality and customer service."</a:t>
            </a:r>
            <a:endParaRPr sz="2100">
              <a:solidFill>
                <a:srgbClr val="374151"/>
              </a:solidFill>
              <a:highlight>
                <a:srgbClr val="F3F4F6"/>
              </a:highlight>
              <a:latin typeface="Courier New"/>
              <a:ea typeface="Courier New"/>
              <a:cs typeface="Courier New"/>
              <a:sym typeface="Courier New"/>
            </a:endParaRPr>
          </a:p>
          <a:p>
            <a:pPr indent="-228600" lvl="0" marL="457200" rtl="1" algn="r">
              <a:lnSpc>
                <a:spcPct val="115000"/>
              </a:lnSpc>
              <a:spcBef>
                <a:spcPts val="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استخراج (Extraction)</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به جای تولید یک خلاصه جدید، فقط بخش‌های خاصی از متن اصلی را استخراج کنید.</a:t>
            </a:r>
            <a:endParaRPr sz="2100">
              <a:solidFill>
                <a:srgbClr val="374151"/>
              </a:solidFill>
              <a:latin typeface="Vazirmatn"/>
              <a:ea typeface="Vazirmatn"/>
              <a:cs typeface="Vazirmatn"/>
              <a:sym typeface="Vazirmat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nvSpPr>
        <p:spPr>
          <a:xfrm>
            <a:off x="485400" y="1122200"/>
            <a:ext cx="11221200" cy="51270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2700">
                <a:solidFill>
                  <a:schemeClr val="dk1"/>
                </a:solidFill>
                <a:latin typeface="Vazirmatn"/>
                <a:ea typeface="Vazirmatn"/>
                <a:cs typeface="Vazirmatn"/>
                <a:sym typeface="Vazirmatn"/>
              </a:rPr>
              <a:t>کاربرد: تبدیل متن (Transforming)</a:t>
            </a:r>
            <a:endParaRPr b="1" sz="2700">
              <a:solidFill>
                <a:schemeClr val="dk1"/>
              </a:solidFill>
              <a:latin typeface="Vazirmatn"/>
              <a:ea typeface="Vazirmatn"/>
              <a:cs typeface="Vazirmatn"/>
              <a:sym typeface="Vazirmatn"/>
            </a:endParaRPr>
          </a:p>
          <a:p>
            <a:pPr indent="0" lvl="0" marL="0" rtl="1" algn="r">
              <a:lnSpc>
                <a:spcPct val="115000"/>
              </a:lnSpc>
              <a:spcBef>
                <a:spcPts val="0"/>
              </a:spcBef>
              <a:spcAft>
                <a:spcPts val="0"/>
              </a:spcAft>
              <a:buNone/>
            </a:pPr>
            <a:r>
              <a:rPr lang="en-US" sz="2100">
                <a:solidFill>
                  <a:srgbClr val="374151"/>
                </a:solidFill>
                <a:latin typeface="Vazirmatn"/>
                <a:ea typeface="Vazirmatn"/>
                <a:cs typeface="Vazirmatn"/>
                <a:sym typeface="Vazirmatn"/>
              </a:rPr>
              <a:t>تغییر یک متن از یک فرمت/سبک به فرمت/سبک دیگر.</a:t>
            </a:r>
            <a:endParaRPr sz="2100">
              <a:solidFill>
                <a:srgbClr val="374151"/>
              </a:solidFill>
              <a:latin typeface="Vazirmatn"/>
              <a:ea typeface="Vazirmatn"/>
              <a:cs typeface="Vazirmatn"/>
              <a:sym typeface="Vazirmatn"/>
            </a:endParaRPr>
          </a:p>
          <a:p>
            <a:pPr indent="0" lvl="0" marL="0" rtl="1" algn="r">
              <a:lnSpc>
                <a:spcPct val="115000"/>
              </a:lnSpc>
              <a:spcBef>
                <a:spcPts val="1800"/>
              </a:spcBef>
              <a:spcAft>
                <a:spcPts val="0"/>
              </a:spcAft>
              <a:buNone/>
            </a:pPr>
            <a:r>
              <a:rPr b="1" lang="en-US" sz="2300">
                <a:solidFill>
                  <a:srgbClr val="4338CA"/>
                </a:solidFill>
                <a:latin typeface="Vazirmatn"/>
                <a:ea typeface="Vazirmatn"/>
                <a:cs typeface="Vazirmatn"/>
                <a:sym typeface="Vazirmatn"/>
              </a:rPr>
              <a:t>انواع تبدیل:</a:t>
            </a:r>
            <a:endParaRPr b="1" sz="2300">
              <a:solidFill>
                <a:srgbClr val="4338CA"/>
              </a:solidFill>
              <a:latin typeface="Vazirmatn"/>
              <a:ea typeface="Vazirmatn"/>
              <a:cs typeface="Vazirmatn"/>
              <a:sym typeface="Vazirmatn"/>
            </a:endParaRPr>
          </a:p>
          <a:p>
            <a:pPr indent="-228600" lvl="0" marL="457200" rtl="1" algn="r">
              <a:lnSpc>
                <a:spcPct val="115000"/>
              </a:lnSpc>
              <a:spcBef>
                <a:spcPts val="40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ترجمه و تشخیص زبان</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ترجمه متن به زبان‌های مختلف (به دلیل آموزش مدل با منابع چندزبانه) و تشخیص خودکار زبان متن ورودی.</a:t>
            </a:r>
            <a:endParaRPr sz="21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تصحیح و تنظیم لحن (Tone Adjustment)</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تصحیح گرامر و املای متن و تغییر لحن آن (مثلاً از غیررسمی به حرفه‌ای، یا از لحن خنثی به متقاعدکننده).</a:t>
            </a:r>
            <a:endParaRPr sz="2100">
              <a:solidFill>
                <a:srgbClr val="374151"/>
              </a:solidFill>
              <a:latin typeface="Vazirmatn"/>
              <a:ea typeface="Vazirmatn"/>
              <a:cs typeface="Vazirmatn"/>
              <a:sym typeface="Vazirmatn"/>
            </a:endParaRPr>
          </a:p>
          <a:p>
            <a:pPr indent="-228600" lvl="0" marL="457200" rtl="1" algn="r">
              <a:lnSpc>
                <a:spcPct val="115000"/>
              </a:lnSpc>
              <a:spcBef>
                <a:spcPts val="0"/>
              </a:spcBef>
              <a:spcAft>
                <a:spcPts val="0"/>
              </a:spcAft>
              <a:buClr>
                <a:schemeClr val="dk1"/>
              </a:buClr>
              <a:buSzPts val="1100"/>
              <a:buFont typeface="Vazirmatn"/>
              <a:buNone/>
            </a:pPr>
            <a:r>
              <a:rPr b="1" lang="en-US" sz="2300">
                <a:solidFill>
                  <a:srgbClr val="4F46E5"/>
                </a:solidFill>
                <a:latin typeface="Vazirmatn"/>
                <a:ea typeface="Vazirmatn"/>
                <a:cs typeface="Vazirmatn"/>
                <a:sym typeface="Vazirmatn"/>
              </a:rPr>
              <a:t>تبدیل فرمت (Format Conversion)</a:t>
            </a:r>
            <a:br>
              <a:rPr b="1" lang="en-US" sz="2300">
                <a:solidFill>
                  <a:srgbClr val="4F46E5"/>
                </a:solidFill>
                <a:latin typeface="Vazirmatn"/>
                <a:ea typeface="Vazirmatn"/>
                <a:cs typeface="Vazirmatn"/>
                <a:sym typeface="Vazirmatn"/>
              </a:rPr>
            </a:br>
            <a:r>
              <a:rPr lang="en-US" sz="2100">
                <a:solidFill>
                  <a:srgbClr val="374151"/>
                </a:solidFill>
                <a:latin typeface="Vazirmatn"/>
                <a:ea typeface="Vazirmatn"/>
                <a:cs typeface="Vazirmatn"/>
                <a:sym typeface="Vazirmatn"/>
              </a:rPr>
              <a:t>تبدیل محتوا از یک ساختار (مثلاً متن ساده) به یک ساختار برنامه‌نویسی (مانند HTML، LaTeX یا JSON).</a:t>
            </a:r>
            <a:endParaRPr sz="2100">
              <a:solidFill>
                <a:srgbClr val="374151"/>
              </a:solidFill>
              <a:latin typeface="Vazirmatn"/>
              <a:ea typeface="Vazirmatn"/>
              <a:cs typeface="Vazirmatn"/>
              <a:sym typeface="Vazirmat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nvSpPr>
        <p:spPr>
          <a:xfrm>
            <a:off x="657450" y="1632325"/>
            <a:ext cx="11017200" cy="3440700"/>
          </a:xfrm>
          <a:prstGeom prst="rect">
            <a:avLst/>
          </a:prstGeom>
          <a:noFill/>
          <a:ln>
            <a:noFill/>
          </a:ln>
        </p:spPr>
        <p:txBody>
          <a:bodyPr anchorCtr="0" anchor="t" bIns="91425" lIns="91425" spcFirstLastPara="1" rIns="91425" wrap="square" tIns="91425">
            <a:spAutoFit/>
          </a:bodyPr>
          <a:lstStyle/>
          <a:p>
            <a:pPr indent="0" lvl="0" marL="0" rtl="1" algn="r">
              <a:lnSpc>
                <a:spcPct val="115000"/>
              </a:lnSpc>
              <a:spcBef>
                <a:spcPts val="0"/>
              </a:spcBef>
              <a:spcAft>
                <a:spcPts val="0"/>
              </a:spcAft>
              <a:buNone/>
            </a:pPr>
            <a:r>
              <a:rPr b="1" lang="en-US" sz="2900">
                <a:solidFill>
                  <a:schemeClr val="dk1"/>
                </a:solidFill>
                <a:latin typeface="Vazirmatn"/>
                <a:ea typeface="Vazirmatn"/>
                <a:cs typeface="Vazirmatn"/>
                <a:sym typeface="Vazirmatn"/>
              </a:rPr>
              <a:t>گسترش متن (Expanding)</a:t>
            </a:r>
            <a:endParaRPr b="1" sz="2900">
              <a:solidFill>
                <a:schemeClr val="dk1"/>
              </a:solidFill>
              <a:latin typeface="Vazirmatn"/>
              <a:ea typeface="Vazirmatn"/>
              <a:cs typeface="Vazirmatn"/>
              <a:sym typeface="Vazirmatn"/>
            </a:endParaRPr>
          </a:p>
          <a:p>
            <a:pPr indent="0" lvl="0" marL="0" rtl="1" algn="r">
              <a:lnSpc>
                <a:spcPct val="115000"/>
              </a:lnSpc>
              <a:spcBef>
                <a:spcPts val="0"/>
              </a:spcBef>
              <a:spcAft>
                <a:spcPts val="0"/>
              </a:spcAft>
              <a:buNone/>
            </a:pPr>
            <a:r>
              <a:rPr lang="en-US" sz="2300">
                <a:solidFill>
                  <a:srgbClr val="374151"/>
                </a:solidFill>
                <a:latin typeface="Vazirmatn"/>
                <a:ea typeface="Vazirmatn"/>
                <a:cs typeface="Vazirmatn"/>
                <a:sym typeface="Vazirmatn"/>
              </a:rPr>
              <a:t>گسترش یک ایده یا چند نقطه کلیدی به یک متن طولانی‌تر و دقیق‌تر، مانند تولید یک ایمیل کامل از یک نقد کوتاه.</a:t>
            </a:r>
            <a:endParaRPr sz="2300">
              <a:solidFill>
                <a:srgbClr val="374151"/>
              </a:solidFill>
              <a:latin typeface="Vazirmatn"/>
              <a:ea typeface="Vazirmatn"/>
              <a:cs typeface="Vazirmatn"/>
              <a:sym typeface="Vazirmatn"/>
            </a:endParaRPr>
          </a:p>
          <a:p>
            <a:pPr indent="0" lvl="0" marL="0" rtl="1" algn="r">
              <a:lnSpc>
                <a:spcPct val="115000"/>
              </a:lnSpc>
              <a:spcBef>
                <a:spcPts val="1800"/>
              </a:spcBef>
              <a:spcAft>
                <a:spcPts val="0"/>
              </a:spcAft>
              <a:buNone/>
            </a:pPr>
            <a:r>
              <a:rPr b="1" lang="en-US" sz="2500">
                <a:solidFill>
                  <a:srgbClr val="4338CA"/>
                </a:solidFill>
                <a:latin typeface="Vazirmatn"/>
                <a:ea typeface="Vazirmatn"/>
                <a:cs typeface="Vazirmatn"/>
                <a:sym typeface="Vazirmatn"/>
              </a:rPr>
              <a:t>نکات مهم:</a:t>
            </a:r>
            <a:endParaRPr b="1" sz="2500">
              <a:solidFill>
                <a:srgbClr val="4338CA"/>
              </a:solidFill>
              <a:latin typeface="Vazirmatn"/>
              <a:ea typeface="Vazirmatn"/>
              <a:cs typeface="Vazirmatn"/>
              <a:sym typeface="Vazirmatn"/>
            </a:endParaRPr>
          </a:p>
          <a:p>
            <a:pPr indent="-228600" lvl="0" marL="457200" rtl="1" algn="r">
              <a:lnSpc>
                <a:spcPct val="115000"/>
              </a:lnSpc>
              <a:spcBef>
                <a:spcPts val="400"/>
              </a:spcBef>
              <a:spcAft>
                <a:spcPts val="0"/>
              </a:spcAft>
              <a:buClr>
                <a:schemeClr val="dk1"/>
              </a:buClr>
              <a:buSzPts val="1100"/>
              <a:buFont typeface="Vazirmatn"/>
              <a:buNone/>
            </a:pPr>
            <a:r>
              <a:rPr b="1" lang="en-US" sz="2500">
                <a:solidFill>
                  <a:srgbClr val="4F46E5"/>
                </a:solidFill>
                <a:latin typeface="Vazirmatn"/>
                <a:ea typeface="Vazirmatn"/>
                <a:cs typeface="Vazirmatn"/>
                <a:sym typeface="Vazirmatn"/>
              </a:rPr>
              <a:t>شخصی‌سازی محتوا</a:t>
            </a:r>
            <a:br>
              <a:rPr b="1" lang="en-US" sz="2500">
                <a:solidFill>
                  <a:srgbClr val="4F46E5"/>
                </a:solidFill>
                <a:latin typeface="Vazirmatn"/>
                <a:ea typeface="Vazirmatn"/>
                <a:cs typeface="Vazirmatn"/>
                <a:sym typeface="Vazirmatn"/>
              </a:rPr>
            </a:br>
            <a:r>
              <a:rPr lang="en-US" sz="2300">
                <a:solidFill>
                  <a:srgbClr val="374151"/>
                </a:solidFill>
                <a:latin typeface="Vazirmatn"/>
                <a:ea typeface="Vazirmatn"/>
                <a:cs typeface="Vazirmatn"/>
                <a:sym typeface="Vazirmatn"/>
              </a:rPr>
              <a:t>از مدل بخواهید که جزئیات خاصی از متن ورودی (مثلاً دلیل عدم تمایل به داوری) را در پاسخ تولیدشده (مثل ایمیل عذرخواهی) بگنجاند.</a:t>
            </a:r>
            <a:endParaRPr sz="2300">
              <a:solidFill>
                <a:srgbClr val="374151"/>
              </a:solidFill>
              <a:latin typeface="Vazirmatn"/>
              <a:ea typeface="Vazirmatn"/>
              <a:cs typeface="Vazirmatn"/>
              <a:sym typeface="Vazirmat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descr="image.png" id="250" name="Google Shape;250;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1" name="Google Shape;251;p30"/>
          <p:cNvSpPr txBox="1"/>
          <p:nvPr/>
        </p:nvSpPr>
        <p:spPr>
          <a:xfrm>
            <a:off x="1809750" y="2447925"/>
            <a:ext cx="8191500" cy="231000"/>
          </a:xfrm>
          <a:prstGeom prst="rect">
            <a:avLst/>
          </a:prstGeom>
          <a:noFill/>
          <a:ln>
            <a:noFill/>
          </a:ln>
        </p:spPr>
        <p:txBody>
          <a:bodyPr anchorCtr="0" anchor="t" bIns="0" lIns="342900"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0B3954"/>
                </a:solidFill>
                <a:latin typeface="Vazirmatn"/>
                <a:ea typeface="Vazirmatn"/>
                <a:cs typeface="Vazirmatn"/>
                <a:sym typeface="Vazirmatn"/>
              </a:rPr>
              <a:t>برای یادگیری استفاده کنید:</a:t>
            </a:r>
            <a:r>
              <a:rPr b="0" i="0" lang="en-US" sz="1500" u="none" cap="none" strike="noStrike">
                <a:solidFill>
                  <a:srgbClr val="334155"/>
                </a:solidFill>
                <a:latin typeface="Vazirmatn"/>
                <a:ea typeface="Vazirmatn"/>
                <a:cs typeface="Vazirmatn"/>
                <a:sym typeface="Vazirmatn"/>
              </a:rPr>
              <a:t> از AI بخواهید مفاهیم را «توضیح» دهد.</a:t>
            </a:r>
            <a:endParaRPr/>
          </a:p>
        </p:txBody>
      </p:sp>
      <p:sp>
        <p:nvSpPr>
          <p:cNvPr id="252" name="Google Shape;252;p30"/>
          <p:cNvSpPr txBox="1"/>
          <p:nvPr/>
        </p:nvSpPr>
        <p:spPr>
          <a:xfrm>
            <a:off x="1809750" y="2943225"/>
            <a:ext cx="8191500" cy="231000"/>
          </a:xfrm>
          <a:prstGeom prst="rect">
            <a:avLst/>
          </a:prstGeom>
          <a:noFill/>
          <a:ln>
            <a:noFill/>
          </a:ln>
        </p:spPr>
        <p:txBody>
          <a:bodyPr anchorCtr="0" anchor="t" bIns="0" lIns="371475"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0B3954"/>
                </a:solidFill>
                <a:latin typeface="Vazirmatn"/>
                <a:ea typeface="Vazirmatn"/>
                <a:cs typeface="Vazirmatn"/>
                <a:sym typeface="Vazirmatn"/>
              </a:rPr>
              <a:t>گام به گام بخواهید:</a:t>
            </a:r>
            <a:r>
              <a:rPr b="0" i="0" lang="en-US" sz="1500" u="none" cap="none" strike="noStrike">
                <a:solidFill>
                  <a:srgbClr val="334155"/>
                </a:solidFill>
                <a:latin typeface="Vazirmatn"/>
                <a:ea typeface="Vazirmatn"/>
                <a:cs typeface="Vazirmatn"/>
                <a:sym typeface="Vazirmatn"/>
              </a:rPr>
              <a:t> درخواست کنید مسائل پیچیده را به مراحل کوچکتر بشکند.</a:t>
            </a:r>
            <a:endParaRPr/>
          </a:p>
        </p:txBody>
      </p:sp>
      <p:sp>
        <p:nvSpPr>
          <p:cNvPr id="253" name="Google Shape;253;p30"/>
          <p:cNvSpPr txBox="1"/>
          <p:nvPr/>
        </p:nvSpPr>
        <p:spPr>
          <a:xfrm>
            <a:off x="1809750" y="3438525"/>
            <a:ext cx="8191500" cy="231000"/>
          </a:xfrm>
          <a:prstGeom prst="rect">
            <a:avLst/>
          </a:prstGeom>
          <a:noFill/>
          <a:ln>
            <a:noFill/>
          </a:ln>
        </p:spPr>
        <p:txBody>
          <a:bodyPr anchorCtr="0" anchor="t" bIns="0" lIns="314325"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0B3954"/>
                </a:solidFill>
                <a:latin typeface="Vazirmatn"/>
                <a:ea typeface="Vazirmatn"/>
                <a:cs typeface="Vazirmatn"/>
                <a:sym typeface="Vazirmatn"/>
              </a:rPr>
              <a:t>برای ایده‌پردازی عالی است:</a:t>
            </a:r>
            <a:r>
              <a:rPr b="0" i="0" lang="en-US" sz="1500" u="none" cap="none" strike="noStrike">
                <a:solidFill>
                  <a:srgbClr val="334155"/>
                </a:solidFill>
                <a:latin typeface="Vazirmatn"/>
                <a:ea typeface="Vazirmatn"/>
                <a:cs typeface="Vazirmatn"/>
                <a:sym typeface="Vazirmatn"/>
              </a:rPr>
              <a:t> "چطور می‌توانم این برنامه را بهتر کنم؟"</a:t>
            </a:r>
            <a:endParaRPr/>
          </a:p>
        </p:txBody>
      </p:sp>
      <p:sp>
        <p:nvSpPr>
          <p:cNvPr id="254" name="Google Shape;254;p30"/>
          <p:cNvSpPr txBox="1"/>
          <p:nvPr/>
        </p:nvSpPr>
        <p:spPr>
          <a:xfrm>
            <a:off x="1809750" y="3933825"/>
            <a:ext cx="8191500" cy="600300"/>
          </a:xfrm>
          <a:prstGeom prst="rect">
            <a:avLst/>
          </a:prstGeom>
          <a:noFill/>
          <a:ln>
            <a:noFill/>
          </a:ln>
        </p:spPr>
        <p:txBody>
          <a:bodyPr anchorCtr="0" anchor="t" bIns="0" lIns="342900"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0B3954"/>
                </a:solidFill>
                <a:latin typeface="Vazirmatn"/>
                <a:ea typeface="Vazirmatn"/>
                <a:cs typeface="Vazirmatn"/>
                <a:sym typeface="Vazirmatn"/>
              </a:rPr>
              <a:t>همیشه راستی‌آزمایی کنید:</a:t>
            </a:r>
            <a:r>
              <a:rPr b="0" i="0" lang="en-US" sz="1500" u="none" cap="none" strike="noStrike">
                <a:solidFill>
                  <a:srgbClr val="334155"/>
                </a:solidFill>
                <a:latin typeface="Vazirmatn"/>
                <a:ea typeface="Vazirmatn"/>
                <a:cs typeface="Vazirmatn"/>
                <a:sym typeface="Vazirmatn"/>
              </a:rPr>
              <a:t> هوش مصنوعی «توهم» (Hallucination) می‌زند و ممکن است اشتباه کند. به آن اعتماد مطلق نکنید.</a:t>
            </a:r>
            <a:endParaRPr/>
          </a:p>
        </p:txBody>
      </p:sp>
      <p:sp>
        <p:nvSpPr>
          <p:cNvPr id="255" name="Google Shape;255;p30"/>
          <p:cNvSpPr txBox="1"/>
          <p:nvPr/>
        </p:nvSpPr>
        <p:spPr>
          <a:xfrm>
            <a:off x="1809750" y="4733925"/>
            <a:ext cx="8191500" cy="231000"/>
          </a:xfrm>
          <a:prstGeom prst="rect">
            <a:avLst/>
          </a:prstGeom>
          <a:noFill/>
          <a:ln>
            <a:noFill/>
          </a:ln>
        </p:spPr>
        <p:txBody>
          <a:bodyPr anchorCtr="0" anchor="t" bIns="0" lIns="371475" spcFirstLastPara="1" rIns="0" wrap="square" tIns="0">
            <a:spAutoFit/>
          </a:bodyPr>
          <a:lstStyle/>
          <a:p>
            <a:pPr indent="0" lvl="0" marL="0" marR="0" rtl="1" algn="r">
              <a:lnSpc>
                <a:spcPct val="160000"/>
              </a:lnSpc>
              <a:spcBef>
                <a:spcPts val="0"/>
              </a:spcBef>
              <a:spcAft>
                <a:spcPts val="0"/>
              </a:spcAft>
              <a:buNone/>
            </a:pPr>
            <a:r>
              <a:rPr b="1" i="0" lang="en-US" sz="1500" u="none" cap="none" strike="noStrike">
                <a:solidFill>
                  <a:srgbClr val="0B3954"/>
                </a:solidFill>
                <a:latin typeface="Vazirmatn"/>
                <a:ea typeface="Vazirmatn"/>
                <a:cs typeface="Vazirmatn"/>
                <a:sym typeface="Vazirmatn"/>
              </a:rPr>
              <a:t>حریم خصوصی:</a:t>
            </a:r>
            <a:r>
              <a:rPr b="0" i="0" lang="en-US" sz="1500" u="none" cap="none" strike="noStrike">
                <a:solidFill>
                  <a:srgbClr val="334155"/>
                </a:solidFill>
                <a:latin typeface="Vazirmatn"/>
                <a:ea typeface="Vazirmatn"/>
                <a:cs typeface="Vazirmatn"/>
                <a:sym typeface="Vazirmatn"/>
              </a:rPr>
              <a:t> هرگز اطلاعات شخصی، محرمانه یا کدهای بسیار مهم را وارد نکنید.</a:t>
            </a:r>
            <a:endParaRPr/>
          </a:p>
        </p:txBody>
      </p:sp>
      <p:pic>
        <p:nvPicPr>
          <p:cNvPr descr="image.png" id="256" name="Google Shape;256;p30"/>
          <p:cNvPicPr preferRelativeResize="0"/>
          <p:nvPr/>
        </p:nvPicPr>
        <p:blipFill rotWithShape="1">
          <a:blip r:embed="rId4">
            <a:alphaModFix/>
          </a:blip>
          <a:srcRect b="0" l="0" r="0" t="0"/>
          <a:stretch/>
        </p:blipFill>
        <p:spPr>
          <a:xfrm>
            <a:off x="10182225" y="2495550"/>
            <a:ext cx="200025" cy="228600"/>
          </a:xfrm>
          <a:prstGeom prst="rect">
            <a:avLst/>
          </a:prstGeom>
          <a:noFill/>
          <a:ln>
            <a:noFill/>
          </a:ln>
        </p:spPr>
      </p:pic>
      <p:pic>
        <p:nvPicPr>
          <p:cNvPr descr="image.png" id="257" name="Google Shape;257;p30"/>
          <p:cNvPicPr preferRelativeResize="0"/>
          <p:nvPr/>
        </p:nvPicPr>
        <p:blipFill rotWithShape="1">
          <a:blip r:embed="rId5">
            <a:alphaModFix/>
          </a:blip>
          <a:srcRect b="0" l="0" r="0" t="0"/>
          <a:stretch/>
        </p:blipFill>
        <p:spPr>
          <a:xfrm>
            <a:off x="10153650" y="2990850"/>
            <a:ext cx="228600" cy="228600"/>
          </a:xfrm>
          <a:prstGeom prst="rect">
            <a:avLst/>
          </a:prstGeom>
          <a:noFill/>
          <a:ln>
            <a:noFill/>
          </a:ln>
        </p:spPr>
      </p:pic>
      <p:pic>
        <p:nvPicPr>
          <p:cNvPr descr="image.png" id="258" name="Google Shape;258;p30"/>
          <p:cNvPicPr preferRelativeResize="0"/>
          <p:nvPr/>
        </p:nvPicPr>
        <p:blipFill rotWithShape="1">
          <a:blip r:embed="rId6">
            <a:alphaModFix/>
          </a:blip>
          <a:srcRect b="0" l="0" r="0" t="0"/>
          <a:stretch/>
        </p:blipFill>
        <p:spPr>
          <a:xfrm>
            <a:off x="10210800" y="3486150"/>
            <a:ext cx="171450" cy="228600"/>
          </a:xfrm>
          <a:prstGeom prst="rect">
            <a:avLst/>
          </a:prstGeom>
          <a:noFill/>
          <a:ln>
            <a:noFill/>
          </a:ln>
        </p:spPr>
      </p:pic>
      <p:pic>
        <p:nvPicPr>
          <p:cNvPr descr="image.png" id="259" name="Google Shape;259;p30"/>
          <p:cNvPicPr preferRelativeResize="0"/>
          <p:nvPr/>
        </p:nvPicPr>
        <p:blipFill rotWithShape="1">
          <a:blip r:embed="rId7">
            <a:alphaModFix/>
          </a:blip>
          <a:srcRect b="0" l="0" r="0" t="0"/>
          <a:stretch/>
        </p:blipFill>
        <p:spPr>
          <a:xfrm>
            <a:off x="10182225" y="3981450"/>
            <a:ext cx="200025" cy="228600"/>
          </a:xfrm>
          <a:prstGeom prst="rect">
            <a:avLst/>
          </a:prstGeom>
          <a:noFill/>
          <a:ln>
            <a:noFill/>
          </a:ln>
        </p:spPr>
      </p:pic>
      <p:pic>
        <p:nvPicPr>
          <p:cNvPr descr="image.png" id="260" name="Google Shape;260;p30"/>
          <p:cNvPicPr preferRelativeResize="0"/>
          <p:nvPr/>
        </p:nvPicPr>
        <p:blipFill rotWithShape="1">
          <a:blip r:embed="rId8">
            <a:alphaModFix/>
          </a:blip>
          <a:srcRect b="0" l="0" r="0" t="0"/>
          <a:stretch/>
        </p:blipFill>
        <p:spPr>
          <a:xfrm>
            <a:off x="10153650" y="4781550"/>
            <a:ext cx="228600" cy="228600"/>
          </a:xfrm>
          <a:prstGeom prst="rect">
            <a:avLst/>
          </a:prstGeom>
          <a:noFill/>
          <a:ln>
            <a:noFill/>
          </a:ln>
        </p:spPr>
      </p:pic>
      <p:sp>
        <p:nvSpPr>
          <p:cNvPr id="261" name="Google Shape;261;p30"/>
          <p:cNvSpPr txBox="1"/>
          <p:nvPr/>
        </p:nvSpPr>
        <p:spPr>
          <a:xfrm>
            <a:off x="19050" y="571500"/>
            <a:ext cx="11601450" cy="43815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توصیه‌های نهایی</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5" name="Shape 265"/>
        <p:cNvGrpSpPr/>
        <p:nvPr/>
      </p:nvGrpSpPr>
      <p:grpSpPr>
        <a:xfrm>
          <a:off x="0" y="0"/>
          <a:ext cx="0" cy="0"/>
          <a:chOff x="0" y="0"/>
          <a:chExt cx="0" cy="0"/>
        </a:xfrm>
      </p:grpSpPr>
      <p:pic>
        <p:nvPicPr>
          <p:cNvPr descr="image.png" id="266" name="Google Shape;266;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7" name="Google Shape;267;p31"/>
          <p:cNvSpPr txBox="1"/>
          <p:nvPr/>
        </p:nvSpPr>
        <p:spPr>
          <a:xfrm>
            <a:off x="295275" y="2304157"/>
            <a:ext cx="11601450" cy="885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0B3954"/>
                </a:solidFill>
                <a:latin typeface="Vazirmatn"/>
                <a:ea typeface="Vazirmatn"/>
                <a:cs typeface="Vazirmatn"/>
                <a:sym typeface="Vazirmatn"/>
              </a:rPr>
              <a:t>پرسش و پاسخ</a:t>
            </a:r>
            <a:endParaRPr/>
          </a:p>
        </p:txBody>
      </p:sp>
      <p:sp>
        <p:nvSpPr>
          <p:cNvPr id="268" name="Google Shape;268;p31"/>
          <p:cNvSpPr txBox="1"/>
          <p:nvPr/>
        </p:nvSpPr>
        <p:spPr>
          <a:xfrm>
            <a:off x="571500" y="3399532"/>
            <a:ext cx="11049000" cy="254100"/>
          </a:xfrm>
          <a:prstGeom prst="rect">
            <a:avLst/>
          </a:prstGeom>
          <a:noFill/>
          <a:ln>
            <a:noFill/>
          </a:ln>
        </p:spPr>
        <p:txBody>
          <a:bodyPr anchorCtr="0" anchor="t" bIns="0" lIns="0" spcFirstLastPara="1" rIns="0" wrap="square" tIns="0">
            <a:spAutoFit/>
          </a:bodyPr>
          <a:lstStyle/>
          <a:p>
            <a:pPr indent="0" lvl="0" marL="0" marR="0" rtl="1" algn="ctr">
              <a:lnSpc>
                <a:spcPct val="160000"/>
              </a:lnSpc>
              <a:spcBef>
                <a:spcPts val="0"/>
              </a:spcBef>
              <a:spcAft>
                <a:spcPts val="0"/>
              </a:spcAft>
              <a:buNone/>
            </a:pPr>
            <a:r>
              <a:rPr b="0" i="0" lang="en-US" sz="1650" u="none" cap="none" strike="noStrike">
                <a:solidFill>
                  <a:srgbClr val="334155"/>
                </a:solidFill>
                <a:latin typeface="Vazirmatn"/>
                <a:ea typeface="Vazirmatn"/>
                <a:cs typeface="Vazirmatn"/>
                <a:sym typeface="Vazirmatn"/>
              </a:rPr>
              <a:t>زمان تمرین عملی!</a:t>
            </a:r>
            <a:endParaRPr/>
          </a:p>
        </p:txBody>
      </p:sp>
      <p:sp>
        <p:nvSpPr>
          <p:cNvPr id="269" name="Google Shape;269;p31"/>
          <p:cNvSpPr txBox="1"/>
          <p:nvPr/>
        </p:nvSpPr>
        <p:spPr>
          <a:xfrm>
            <a:off x="571500" y="4115692"/>
            <a:ext cx="11049000" cy="4381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334155"/>
                </a:solidFill>
                <a:latin typeface="Vazirmatn"/>
                <a:ea typeface="Vazirmatn"/>
                <a:cs typeface="Vazirmatn"/>
                <a:sym typeface="Vazirmatn"/>
              </a:rPr>
              <a:t>دکتر محمود امین‌طوسی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087E8B"/>
                </a:solidFill>
                <a:latin typeface="Vazirmatn"/>
                <a:ea typeface="Vazirmatn"/>
                <a:cs typeface="Vazirmatn"/>
                <a:sym typeface="Vazirmatn"/>
              </a:rPr>
              <a:t>mamintoosi.github.io</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pic>
        <p:nvPicPr>
          <p:cNvPr descr="image.png" id="274" name="Google Shape;274;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5" name="Google Shape;275;p32"/>
          <p:cNvPicPr preferRelativeResize="0"/>
          <p:nvPr/>
        </p:nvPicPr>
        <p:blipFill rotWithShape="1">
          <a:blip r:embed="rId4">
            <a:alphaModFix/>
          </a:blip>
          <a:srcRect b="0" l="0" r="0" t="0"/>
          <a:stretch/>
        </p:blipFill>
        <p:spPr>
          <a:xfrm>
            <a:off x="7493198" y="3595538"/>
            <a:ext cx="857250" cy="476250"/>
          </a:xfrm>
          <a:prstGeom prst="rect">
            <a:avLst/>
          </a:prstGeom>
          <a:noFill/>
          <a:ln>
            <a:noFill/>
          </a:ln>
        </p:spPr>
      </p:pic>
      <p:pic>
        <p:nvPicPr>
          <p:cNvPr descr="image.png" id="276" name="Google Shape;276;p32"/>
          <p:cNvPicPr preferRelativeResize="0"/>
          <p:nvPr/>
        </p:nvPicPr>
        <p:blipFill rotWithShape="1">
          <a:blip r:embed="rId5">
            <a:alphaModFix/>
          </a:blip>
          <a:srcRect b="0" l="0" r="0" t="0"/>
          <a:stretch/>
        </p:blipFill>
        <p:spPr>
          <a:xfrm>
            <a:off x="7493198" y="3595538"/>
            <a:ext cx="857250" cy="476250"/>
          </a:xfrm>
          <a:prstGeom prst="rect">
            <a:avLst/>
          </a:prstGeom>
          <a:noFill/>
          <a:ln>
            <a:noFill/>
          </a:ln>
        </p:spPr>
      </p:pic>
      <p:sp>
        <p:nvSpPr>
          <p:cNvPr id="277" name="Google Shape;277;p32"/>
          <p:cNvSpPr txBox="1"/>
          <p:nvPr/>
        </p:nvSpPr>
        <p:spPr>
          <a:xfrm>
            <a:off x="3841551" y="3588990"/>
            <a:ext cx="3413521" cy="19809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975" u="none" cap="none" strike="noStrike">
                <a:solidFill>
                  <a:srgbClr val="334155"/>
                </a:solidFill>
                <a:latin typeface="Vazirmatn"/>
                <a:ea typeface="Vazirmatn"/>
                <a:cs typeface="Vazirmatn"/>
                <a:sym typeface="Vazirmatn"/>
              </a:rPr>
              <a:t>https://miro.medium.com/1*A3OPd5QNaY3Ng6F-F2sFqg.jpeg</a:t>
            </a:r>
            <a:endParaRPr/>
          </a:p>
        </p:txBody>
      </p:sp>
      <p:sp>
        <p:nvSpPr>
          <p:cNvPr id="278" name="Google Shape;278;p32"/>
          <p:cNvSpPr txBox="1"/>
          <p:nvPr/>
        </p:nvSpPr>
        <p:spPr>
          <a:xfrm>
            <a:off x="3841551" y="3834705"/>
            <a:ext cx="3413521" cy="243780"/>
          </a:xfrm>
          <a:prstGeom prst="rect">
            <a:avLst/>
          </a:prstGeom>
          <a:noFill/>
          <a:ln>
            <a:noFill/>
          </a:ln>
        </p:spPr>
        <p:txBody>
          <a:bodyPr anchorCtr="0" anchor="t" bIns="0" lIns="0" spcFirstLastPara="1" rIns="0" wrap="square" tIns="0">
            <a:spAutoFit/>
          </a:bodyPr>
          <a:lstStyle/>
          <a:p>
            <a:pPr indent="0" lvl="0" marL="0" marR="0" rtl="0" algn="r">
              <a:lnSpc>
                <a:spcPct val="160000"/>
              </a:lnSpc>
              <a:spcBef>
                <a:spcPts val="0"/>
              </a:spcBef>
              <a:spcAft>
                <a:spcPts val="0"/>
              </a:spcAft>
              <a:buNone/>
            </a:pPr>
            <a:r>
              <a:rPr b="0" i="0" lang="en-US" sz="1200" u="none" cap="none" strike="noStrike">
                <a:solidFill>
                  <a:srgbClr val="334155"/>
                </a:solidFill>
                <a:latin typeface="Vazirmatn"/>
                <a:ea typeface="Vazirmatn"/>
                <a:cs typeface="Vazirmatn"/>
                <a:sym typeface="Vazirmatn"/>
              </a:rPr>
              <a:t>Source: </a:t>
            </a:r>
            <a:r>
              <a:rPr b="0" i="0" lang="en-US" sz="1200" u="none" cap="none" strike="noStrike">
                <a:solidFill>
                  <a:srgbClr val="4F46E5"/>
                </a:solidFill>
                <a:latin typeface="Vazirmatn"/>
                <a:ea typeface="Vazirmatn"/>
                <a:cs typeface="Vazirmatn"/>
                <a:sym typeface="Vazirmatn"/>
              </a:rPr>
              <a:t>medium.com</a:t>
            </a:r>
            <a:endParaRPr/>
          </a:p>
        </p:txBody>
      </p:sp>
      <p:sp>
        <p:nvSpPr>
          <p:cNvPr id="279" name="Google Shape;279;p32"/>
          <p:cNvSpPr txBox="1"/>
          <p:nvPr/>
        </p:nvSpPr>
        <p:spPr>
          <a:xfrm>
            <a:off x="19050" y="571500"/>
            <a:ext cx="11601450" cy="428625"/>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3000" u="none" cap="none" strike="noStrike">
                <a:solidFill>
                  <a:srgbClr val="0B3954"/>
                </a:solidFill>
                <a:latin typeface="Vazirmatn"/>
                <a:ea typeface="Vazirmatn"/>
                <a:cs typeface="Vazirmatn"/>
                <a:sym typeface="Vazirmatn"/>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